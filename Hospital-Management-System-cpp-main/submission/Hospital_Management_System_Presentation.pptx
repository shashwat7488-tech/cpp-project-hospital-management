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b66548ef9934266" /><Relationship Type="http://schemas.openxmlformats.org/officeDocument/2006/relationships/extended-properties" Target="/docProps/app.xml" Id="Rc14173fe715e4818" /><Relationship Type="http://schemas.openxmlformats.org/officeDocument/2006/relationships/officeDocument" Target="/ppt/presentation.xml" Id="R6509f92c6cd44e4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23c38a308bf4cff"/>
  </p:sldMasterIdLst>
  <p:notesMasterIdLst>
    <p:notesMasterId xmlns:r="http://schemas.openxmlformats.org/officeDocument/2006/relationships" r:id="R1e634d6e6de7414b"/>
  </p:notesMasterIdLst>
  <p:sldIdLst>
    <p:sldId xmlns:r="http://schemas.openxmlformats.org/officeDocument/2006/relationships" id="256" r:id="Ra32c1d6583c04172"/>
    <p:sldId xmlns:r="http://schemas.openxmlformats.org/officeDocument/2006/relationships" id="257" r:id="R7f57b575990549e6"/>
    <p:sldId xmlns:r="http://schemas.openxmlformats.org/officeDocument/2006/relationships" id="258" r:id="R839c53cfcd7a4f77"/>
    <p:sldId xmlns:r="http://schemas.openxmlformats.org/officeDocument/2006/relationships" id="259" r:id="R8418aff8848f450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a4b54c56e2b4124" /><Relationship Type="http://schemas.openxmlformats.org/officeDocument/2006/relationships/slideMaster" Target="/ppt/slideMasters/slideMaster1.xml" Id="Rf23c38a308bf4cff" /><Relationship Type="http://schemas.openxmlformats.org/officeDocument/2006/relationships/notesMaster" Target="/ppt/notesMasters/notesMaster1.xml" Id="R1e634d6e6de7414b" /><Relationship Type="http://schemas.openxmlformats.org/officeDocument/2006/relationships/presProps" Target="/ppt/presProps.xml" Id="R5bad8932413149a7" /><Relationship Type="http://schemas.openxmlformats.org/officeDocument/2006/relationships/tableStyles" Target="/ppt/tableStyles.xml" Id="Rdc5e5b88de8940c0" /><Relationship Type="http://schemas.openxmlformats.org/officeDocument/2006/relationships/slide" Target="/ppt/slides/slide1.xml" Id="Ra32c1d6583c04172" /><Relationship Type="http://schemas.openxmlformats.org/officeDocument/2006/relationships/slide" Target="/ppt/slides/slide2.xml" Id="R7f57b575990549e6" /><Relationship Type="http://schemas.openxmlformats.org/officeDocument/2006/relationships/slide" Target="/ppt/slides/slide3.xml" Id="R839c53cfcd7a4f77" /><Relationship Type="http://schemas.openxmlformats.org/officeDocument/2006/relationships/slide" Target="/ppt/slides/slide4.xml" Id="R8418aff8848f450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6afeebfd9194b4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097f503b9cc404a" /><Relationship Type="http://schemas.openxmlformats.org/officeDocument/2006/relationships/notesMaster" Target="/ppt/notesMasters/notesMaster1.xml" Id="Re6c22770efbb482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dfe4f9da45843d2" /><Relationship Type="http://schemas.openxmlformats.org/officeDocument/2006/relationships/notesMaster" Target="/ppt/notesMasters/notesMaster1.xml" Id="R1e36e421145b433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aa299c176cf4ebf" /><Relationship Type="http://schemas.openxmlformats.org/officeDocument/2006/relationships/notesMaster" Target="/ppt/notesMasters/notesMaster1.xml" Id="Rfa5de0781c3649f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e95b5f2d1f04ba6" /><Relationship Type="http://schemas.openxmlformats.org/officeDocument/2006/relationships/notesMaster" Target="/ppt/notesMasters/notesMaster1.xml" Id="R74770d1de59f442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1aef198d3ad4c86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ec23dd9c21d4eb5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560805233da4e5a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fd66bdba74b4466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99e4443465f41d5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cbe80948792457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FCD9BD5-2FC8-4257-AAA9-97E7B8D0D5C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E9B24BE4-0418-497C-B80A-74366552B1A0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DDCE0412-6962-4EE5-AB95-DBF0B68580B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772861E-959C-4C46-954A-F516F96E16A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8B3EFA70-0C7E-49A5-BB8A-4FFD8DF2762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7AB56245-311E-4790-89FA-779C7BBEE9D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0DEC6F34-C256-46FA-BB11-A2EBDB769D7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0CD47F31-7C0E-4187-B240-C66D8706DC84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DDB89DC-A7C0-4223-8887-9450C866F79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9DB6A820-69A7-449F-9518-DC2F60696B3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85569bba18d40ce" /><Relationship Type="http://schemas.openxmlformats.org/officeDocument/2006/relationships/slideLayout" Target="/ppt/slideLayouts/slideLayout1.xml" Id="R3342a829f51e4cb1" /><Relationship Type="http://schemas.openxmlformats.org/officeDocument/2006/relationships/slideLayout" Target="/ppt/slideLayouts/slideLayout2.xml" Id="R355dc27d559e46ff" /><Relationship Type="http://schemas.openxmlformats.org/officeDocument/2006/relationships/slideLayout" Target="/ppt/slideLayouts/slideLayout3.xml" Id="R65d407ead57d40f2" /><Relationship Type="http://schemas.openxmlformats.org/officeDocument/2006/relationships/slideLayout" Target="/ppt/slideLayouts/slideLayout4.xml" Id="R4222e12c20a34b8a" /><Relationship Type="http://schemas.openxmlformats.org/officeDocument/2006/relationships/slideLayout" Target="/ppt/slideLayouts/slideLayout5.xml" Id="R7c179470edae4765" /><Relationship Type="http://schemas.openxmlformats.org/officeDocument/2006/relationships/slideLayout" Target="/ppt/slideLayouts/slideLayout6.xml" Id="Rbaa349c68f6844f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342a829f51e4cb1"/>
    <p:sldLayoutId xmlns:r="http://schemas.openxmlformats.org/officeDocument/2006/relationships" id="2147483650" r:id="R355dc27d559e46ff"/>
    <p:sldLayoutId xmlns:r="http://schemas.openxmlformats.org/officeDocument/2006/relationships" id="2147483651" r:id="R65d407ead57d40f2"/>
    <p:sldLayoutId xmlns:r="http://schemas.openxmlformats.org/officeDocument/2006/relationships" id="2147483652" r:id="R4222e12c20a34b8a"/>
    <p:sldLayoutId xmlns:r="http://schemas.openxmlformats.org/officeDocument/2006/relationships" id="2147483653" r:id="R7c179470edae4765"/>
    <p:sldLayoutId xmlns:r="http://schemas.openxmlformats.org/officeDocument/2006/relationships" id="2147483654" r:id="Rbaa349c68f6844f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c044b9858fb4a18" /><Relationship Type="http://schemas.openxmlformats.org/officeDocument/2006/relationships/notesSlide" Target="/ppt/notesSlides/notesSlide1.xml" Id="Rfa7413e4b9a3491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f287293f1d84b9e" /><Relationship Type="http://schemas.openxmlformats.org/officeDocument/2006/relationships/notesSlide" Target="/ppt/notesSlides/notesSlide2.xml" Id="R4e135a6e185b4d4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bcad38428e14b3b" /><Relationship Type="http://schemas.openxmlformats.org/officeDocument/2006/relationships/notesSlide" Target="/ppt/notesSlides/notesSlide3.xml" Id="R909b57e95cb1403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40cb1c5f26642e0" /><Relationship Type="http://schemas.openxmlformats.org/officeDocument/2006/relationships/notesSlide" Target="/ppt/notesSlides/notesSlide4.xml" Id="R17beaa8c582b40e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EEF5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0DB0CB0-34E7-4F66-8307-B485BD4B5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5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5DC1336-E1C4-4891-937B-0109947A6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0957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0A73274-4879-48F5-9777-EC7D22ECE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876300"/>
            <a:ext cx="25717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5400" b="1">
                <a:solidFill>
                  <a:srgbClr val="FFFFFF"/>
                </a:solidFill>
              </a:defRPr>
            </a:defPPr>
            <a:lvl1pPr>
              <a:defRPr sz="5400" b="1">
                <a:solidFill>
                  <a:srgbClr val="FFFFFF"/>
                </a:solidFill>
              </a:defRPr>
            </a:lvl1pPr>
            <a:lvl2pPr>
              <a:defRPr sz="5400" b="1">
                <a:solidFill>
                  <a:srgbClr val="FFFFFF"/>
                </a:solidFill>
              </a:defRPr>
            </a:lvl2pPr>
            <a:lvl3pPr>
              <a:defRPr sz="5400" b="1">
                <a:solidFill>
                  <a:srgbClr val="FFFFFF"/>
                </a:solidFill>
              </a:defRPr>
            </a:lvl3pPr>
            <a:lvl4pPr>
              <a:defRPr sz="5400" b="1">
                <a:solidFill>
                  <a:srgbClr val="FFFFFF"/>
                </a:solidFill>
              </a:defRPr>
            </a:lvl4pPr>
            <a:lvl5pPr>
              <a:defRPr sz="5400" b="1">
                <a:solidFill>
                  <a:srgbClr val="FFFFFF"/>
                </a:solidFill>
              </a:defRPr>
            </a:lvl5pPr>
            <a:lvl6pPr>
              <a:defRPr sz="5400" b="1">
                <a:solidFill>
                  <a:srgbClr val="FFFFFF"/>
                </a:solidFill>
              </a:defRPr>
            </a:lvl6pPr>
            <a:lvl7pPr>
              <a:defRPr sz="5400" b="1">
                <a:solidFill>
                  <a:srgbClr val="FFFFFF"/>
                </a:solidFill>
              </a:defRPr>
            </a:lvl7pPr>
            <a:lvl8pPr>
              <a:defRPr sz="5400" b="1">
                <a:solidFill>
                  <a:srgbClr val="FFFFFF"/>
                </a:solidFill>
              </a:defRPr>
            </a:lvl8pPr>
            <a:lvl9pPr>
              <a:defRPr sz="540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buNone/>
              <a:defRPr sz="5400" b="1">
                <a:solidFill>
                  <a:srgbClr val="FFFFFF"/>
                </a:solidFill>
              </a:defRPr>
            </a:pPr>
            <a:r>
              <a:rPr sz="5400" b="1">
                <a:solidFill>
                  <a:srgbClr val="FFFFFF"/>
                </a:solidFill>
              </a:rPr>
              <a:t>HMS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947FFB5-6A15-4408-B789-CF2F5976D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076450"/>
            <a:ext cx="29527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FFFFFF"/>
                </a:solidFill>
              </a:defRPr>
            </a:defPPr>
            <a:lvl1pPr>
              <a:defRPr sz="3000" b="1">
                <a:solidFill>
                  <a:srgbClr val="FFFFFF"/>
                </a:solidFill>
              </a:defRPr>
            </a:lvl1pPr>
            <a:lvl2pPr>
              <a:defRPr sz="3000" b="1">
                <a:solidFill>
                  <a:srgbClr val="FFFFFF"/>
                </a:solidFill>
              </a:defRPr>
            </a:lvl2pPr>
            <a:lvl3pPr>
              <a:defRPr sz="3000" b="1">
                <a:solidFill>
                  <a:srgbClr val="FFFFFF"/>
                </a:solidFill>
              </a:defRPr>
            </a:lvl3pPr>
            <a:lvl4pPr>
              <a:defRPr sz="3000" b="1">
                <a:solidFill>
                  <a:srgbClr val="FFFFFF"/>
                </a:solidFill>
              </a:defRPr>
            </a:lvl4pPr>
            <a:lvl5pPr>
              <a:defRPr sz="3000" b="1">
                <a:solidFill>
                  <a:srgbClr val="FFFFFF"/>
                </a:solidFill>
              </a:defRPr>
            </a:lvl5pPr>
            <a:lvl6pPr>
              <a:defRPr sz="3000" b="1">
                <a:solidFill>
                  <a:srgbClr val="FFFFFF"/>
                </a:solidFill>
              </a:defRPr>
            </a:lvl6pPr>
            <a:lvl7pPr>
              <a:defRPr sz="3000" b="1">
                <a:solidFill>
                  <a:srgbClr val="FFFFFF"/>
                </a:solidFill>
              </a:defRPr>
            </a:lvl7pPr>
            <a:lvl8pPr>
              <a:defRPr sz="3000" b="1">
                <a:solidFill>
                  <a:srgbClr val="FFFFFF"/>
                </a:solidFill>
              </a:defRPr>
            </a:lvl8pPr>
            <a:lvl9pPr>
              <a:defRPr sz="300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buNone/>
              <a:defRPr sz="3000" b="1">
                <a:solidFill>
                  <a:srgbClr val="FFFFFF"/>
                </a:solidFill>
              </a:defRPr>
            </a:pPr>
            <a:r>
              <a:rPr sz="3000" b="1">
                <a:solidFill>
                  <a:srgbClr val="FFFFFF"/>
                </a:solidFill>
              </a:rPr>
              <a:t>Hospital Management</a:t>
            </a:r>
          </a:p>
          <a:p xmlns:a="http://schemas.openxmlformats.org/drawingml/2006/main">
            <a:pPr>
              <a:buNone/>
              <a:defRPr sz="3000" b="1">
                <a:solidFill>
                  <a:srgbClr val="FFFFFF"/>
                </a:solidFill>
              </a:defRPr>
            </a:pPr>
            <a:r>
              <a:rPr sz="3000" b="1">
                <a:solidFill>
                  <a:srgbClr val="FFFFFF"/>
                </a:solidFill>
              </a:rPr>
              <a:t>System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CCA92F6-AC6E-4C7F-AAC5-2F180CC2F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638550"/>
            <a:ext cx="266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0">
                <a:solidFill>
                  <a:srgbClr val="D9E2EC"/>
                </a:solidFill>
              </a:defRPr>
            </a:defPPr>
            <a:lvl1pPr>
              <a:defRPr sz="1425" b="0">
                <a:solidFill>
                  <a:srgbClr val="D9E2EC"/>
                </a:solidFill>
              </a:defRPr>
            </a:lvl1pPr>
            <a:lvl2pPr>
              <a:defRPr sz="1425" b="0">
                <a:solidFill>
                  <a:srgbClr val="D9E2EC"/>
                </a:solidFill>
              </a:defRPr>
            </a:lvl2pPr>
            <a:lvl3pPr>
              <a:defRPr sz="1425" b="0">
                <a:solidFill>
                  <a:srgbClr val="D9E2EC"/>
                </a:solidFill>
              </a:defRPr>
            </a:lvl3pPr>
            <a:lvl4pPr>
              <a:defRPr sz="1425" b="0">
                <a:solidFill>
                  <a:srgbClr val="D9E2EC"/>
                </a:solidFill>
              </a:defRPr>
            </a:lvl4pPr>
            <a:lvl5pPr>
              <a:defRPr sz="1425" b="0">
                <a:solidFill>
                  <a:srgbClr val="D9E2EC"/>
                </a:solidFill>
              </a:defRPr>
            </a:lvl5pPr>
            <a:lvl6pPr>
              <a:defRPr sz="1425" b="0">
                <a:solidFill>
                  <a:srgbClr val="D9E2EC"/>
                </a:solidFill>
              </a:defRPr>
            </a:lvl6pPr>
            <a:lvl7pPr>
              <a:defRPr sz="1425" b="0">
                <a:solidFill>
                  <a:srgbClr val="D9E2EC"/>
                </a:solidFill>
              </a:defRPr>
            </a:lvl7pPr>
            <a:lvl8pPr>
              <a:defRPr sz="1425" b="0">
                <a:solidFill>
                  <a:srgbClr val="D9E2EC"/>
                </a:solidFill>
              </a:defRPr>
            </a:lvl8pPr>
            <a:lvl9pPr>
              <a:defRPr sz="1425" b="0">
                <a:solidFill>
                  <a:srgbClr val="D9E2EC"/>
                </a:solidFill>
              </a:defRPr>
            </a:lvl9pPr>
          </a:lstStyle>
          <a:p xmlns:a="http://schemas.openxmlformats.org/drawingml/2006/main">
            <a:pPr>
              <a:buNone/>
              <a:defRPr sz="1425" b="0">
                <a:solidFill>
                  <a:srgbClr val="D9E2EC"/>
                </a:solidFill>
              </a:defRPr>
            </a:pPr>
            <a:r>
              <a:rPr sz="1425" b="0">
                <a:solidFill>
                  <a:srgbClr val="D9E2EC"/>
                </a:solidFill>
              </a:rPr>
              <a:t>C++17 OOP and DSA project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8320D51-2F57-4A0B-A270-511420834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504950"/>
            <a:ext cx="5905500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102A43"/>
                </a:solidFill>
              </a:defRPr>
            </a:defPPr>
            <a:lvl1pPr>
              <a:defRPr sz="3000" b="1">
                <a:solidFill>
                  <a:srgbClr val="102A43"/>
                </a:solidFill>
              </a:defRPr>
            </a:lvl1pPr>
            <a:lvl2pPr>
              <a:defRPr sz="3000" b="1">
                <a:solidFill>
                  <a:srgbClr val="102A43"/>
                </a:solidFill>
              </a:defRPr>
            </a:lvl2pPr>
            <a:lvl3pPr>
              <a:defRPr sz="3000" b="1">
                <a:solidFill>
                  <a:srgbClr val="102A43"/>
                </a:solidFill>
              </a:defRPr>
            </a:lvl3pPr>
            <a:lvl4pPr>
              <a:defRPr sz="3000" b="1">
                <a:solidFill>
                  <a:srgbClr val="102A43"/>
                </a:solidFill>
              </a:defRPr>
            </a:lvl4pPr>
            <a:lvl5pPr>
              <a:defRPr sz="3000" b="1">
                <a:solidFill>
                  <a:srgbClr val="102A43"/>
                </a:solidFill>
              </a:defRPr>
            </a:lvl5pPr>
            <a:lvl6pPr>
              <a:defRPr sz="3000" b="1">
                <a:solidFill>
                  <a:srgbClr val="102A43"/>
                </a:solidFill>
              </a:defRPr>
            </a:lvl6pPr>
            <a:lvl7pPr>
              <a:defRPr sz="3000" b="1">
                <a:solidFill>
                  <a:srgbClr val="102A43"/>
                </a:solidFill>
              </a:defRPr>
            </a:lvl7pPr>
            <a:lvl8pPr>
              <a:defRPr sz="3000" b="1">
                <a:solidFill>
                  <a:srgbClr val="102A43"/>
                </a:solidFill>
              </a:defRPr>
            </a:lvl8pPr>
            <a:lvl9pPr>
              <a:defRPr sz="3000" b="1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>
              <a:buNone/>
              <a:defRPr sz="3000" b="1">
                <a:solidFill>
                  <a:srgbClr val="102A43"/>
                </a:solidFill>
              </a:defRPr>
            </a:pPr>
            <a:r>
              <a:rPr sz="3000" b="1">
                <a:solidFill>
                  <a:srgbClr val="102A43"/>
                </a:solidFill>
              </a:rPr>
              <a:t>A focused console application for staff, appointments, admissions, emergency cases, navigation, and search.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E41462D-6E3E-4F9A-9D7F-4FDE00F3A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3467100"/>
            <a:ext cx="571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52606D"/>
                </a:solidFill>
              </a:defRPr>
            </a:defPPr>
            <a:lvl1pPr>
              <a:defRPr sz="1500" b="0">
                <a:solidFill>
                  <a:srgbClr val="52606D"/>
                </a:solidFill>
              </a:defRPr>
            </a:lvl1pPr>
            <a:lvl2pPr>
              <a:defRPr sz="1500" b="0">
                <a:solidFill>
                  <a:srgbClr val="52606D"/>
                </a:solidFill>
              </a:defRPr>
            </a:lvl2pPr>
            <a:lvl3pPr>
              <a:defRPr sz="1500" b="0">
                <a:solidFill>
                  <a:srgbClr val="52606D"/>
                </a:solidFill>
              </a:defRPr>
            </a:lvl3pPr>
            <a:lvl4pPr>
              <a:defRPr sz="1500" b="0">
                <a:solidFill>
                  <a:srgbClr val="52606D"/>
                </a:solidFill>
              </a:defRPr>
            </a:lvl4pPr>
            <a:lvl5pPr>
              <a:defRPr sz="1500" b="0">
                <a:solidFill>
                  <a:srgbClr val="52606D"/>
                </a:solidFill>
              </a:defRPr>
            </a:lvl5pPr>
            <a:lvl6pPr>
              <a:defRPr sz="1500" b="0">
                <a:solidFill>
                  <a:srgbClr val="52606D"/>
                </a:solidFill>
              </a:defRPr>
            </a:lvl6pPr>
            <a:lvl7pPr>
              <a:defRPr sz="1500" b="0">
                <a:solidFill>
                  <a:srgbClr val="52606D"/>
                </a:solidFill>
              </a:defRPr>
            </a:lvl7pPr>
            <a:lvl8pPr>
              <a:defRPr sz="1500" b="0">
                <a:solidFill>
                  <a:srgbClr val="52606D"/>
                </a:solidFill>
              </a:defRPr>
            </a:lvl8pPr>
            <a:lvl9pPr>
              <a:defRPr sz="1500" b="0">
                <a:solidFill>
                  <a:srgbClr val="52606D"/>
                </a:solidFill>
              </a:defRPr>
            </a:lvl9pPr>
          </a:lstStyle>
          <a:p xmlns:a="http://schemas.openxmlformats.org/drawingml/2006/main">
            <a:pPr>
              <a:buNone/>
              <a:defRPr sz="1500" b="0">
                <a:solidFill>
                  <a:srgbClr val="52606D"/>
                </a:solidFill>
              </a:defRPr>
            </a:pPr>
            <a:r>
              <a:rPr sz="1500" b="0">
                <a:solidFill>
                  <a:srgbClr val="52606D"/>
                </a:solidFill>
              </a:rPr>
              <a:t>Team members: [Name 1]  |  [Name 2]  |  [Name 3]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827386B-4828-4344-B04F-8560D5B2B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3943350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1">
                <a:solidFill>
                  <a:srgbClr val="00A6A6"/>
                </a:solidFill>
              </a:defRPr>
            </a:defPPr>
            <a:lvl1pPr>
              <a:defRPr sz="1275" b="1">
                <a:solidFill>
                  <a:srgbClr val="00A6A6"/>
                </a:solidFill>
              </a:defRPr>
            </a:lvl1pPr>
            <a:lvl2pPr>
              <a:defRPr sz="1275" b="1">
                <a:solidFill>
                  <a:srgbClr val="00A6A6"/>
                </a:solidFill>
              </a:defRPr>
            </a:lvl2pPr>
            <a:lvl3pPr>
              <a:defRPr sz="1275" b="1">
                <a:solidFill>
                  <a:srgbClr val="00A6A6"/>
                </a:solidFill>
              </a:defRPr>
            </a:lvl3pPr>
            <a:lvl4pPr>
              <a:defRPr sz="1275" b="1">
                <a:solidFill>
                  <a:srgbClr val="00A6A6"/>
                </a:solidFill>
              </a:defRPr>
            </a:lvl4pPr>
            <a:lvl5pPr>
              <a:defRPr sz="1275" b="1">
                <a:solidFill>
                  <a:srgbClr val="00A6A6"/>
                </a:solidFill>
              </a:defRPr>
            </a:lvl5pPr>
            <a:lvl6pPr>
              <a:defRPr sz="1275" b="1">
                <a:solidFill>
                  <a:srgbClr val="00A6A6"/>
                </a:solidFill>
              </a:defRPr>
            </a:lvl6pPr>
            <a:lvl7pPr>
              <a:defRPr sz="1275" b="1">
                <a:solidFill>
                  <a:srgbClr val="00A6A6"/>
                </a:solidFill>
              </a:defRPr>
            </a:lvl7pPr>
            <a:lvl8pPr>
              <a:defRPr sz="1275" b="1">
                <a:solidFill>
                  <a:srgbClr val="00A6A6"/>
                </a:solidFill>
              </a:defRPr>
            </a:lvl8pPr>
            <a:lvl9pPr>
              <a:defRPr sz="1275" b="1">
                <a:solidFill>
                  <a:srgbClr val="00A6A6"/>
                </a:solidFill>
              </a:defRPr>
            </a:lvl9pPr>
          </a:lstStyle>
          <a:p xmlns:a="http://schemas.openxmlformats.org/drawingml/2006/main">
            <a:pPr>
              <a:buNone/>
              <a:defRPr sz="1275" b="1">
                <a:solidFill>
                  <a:srgbClr val="00A6A6"/>
                </a:solidFill>
              </a:defRPr>
            </a:pPr>
            <a:r>
              <a:rPr sz="1275" b="1">
                <a:solidFill>
                  <a:srgbClr val="00A6A6"/>
                </a:solidFill>
              </a:rPr>
              <a:t>College submission presentation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14747A0-190D-4FB5-A666-3F3273C77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59245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52606D"/>
                </a:solidFill>
              </a:defRPr>
            </a:defPPr>
            <a:lvl1pPr>
              <a:defRPr sz="1050" b="0">
                <a:solidFill>
                  <a:srgbClr val="52606D"/>
                </a:solidFill>
              </a:defRPr>
            </a:lvl1pPr>
            <a:lvl2pPr>
              <a:defRPr sz="1050" b="0">
                <a:solidFill>
                  <a:srgbClr val="52606D"/>
                </a:solidFill>
              </a:defRPr>
            </a:lvl2pPr>
            <a:lvl3pPr>
              <a:defRPr sz="1050" b="0">
                <a:solidFill>
                  <a:srgbClr val="52606D"/>
                </a:solidFill>
              </a:defRPr>
            </a:lvl3pPr>
            <a:lvl4pPr>
              <a:defRPr sz="1050" b="0">
                <a:solidFill>
                  <a:srgbClr val="52606D"/>
                </a:solidFill>
              </a:defRPr>
            </a:lvl4pPr>
            <a:lvl5pPr>
              <a:defRPr sz="1050" b="0">
                <a:solidFill>
                  <a:srgbClr val="52606D"/>
                </a:solidFill>
              </a:defRPr>
            </a:lvl5pPr>
            <a:lvl6pPr>
              <a:defRPr sz="1050" b="0">
                <a:solidFill>
                  <a:srgbClr val="52606D"/>
                </a:solidFill>
              </a:defRPr>
            </a:lvl6pPr>
            <a:lvl7pPr>
              <a:defRPr sz="1050" b="0">
                <a:solidFill>
                  <a:srgbClr val="52606D"/>
                </a:solidFill>
              </a:defRPr>
            </a:lvl7pPr>
            <a:lvl8pPr>
              <a:defRPr sz="1050" b="0">
                <a:solidFill>
                  <a:srgbClr val="52606D"/>
                </a:solidFill>
              </a:defRPr>
            </a:lvl8pPr>
            <a:lvl9pPr>
              <a:defRPr sz="1050" b="0">
                <a:solidFill>
                  <a:srgbClr val="52606D"/>
                </a:solidFill>
              </a:defRPr>
            </a:lvl9pPr>
          </a:lstStyle>
          <a:p xmlns:a="http://schemas.openxmlformats.org/drawingml/2006/main">
            <a:pPr>
              <a:buNone/>
              <a:defRPr sz="1050" b="0">
                <a:solidFill>
                  <a:srgbClr val="52606D"/>
                </a:solidFill>
              </a:defRPr>
            </a:pPr>
            <a:r>
              <a:rPr sz="1050" b="0">
                <a:solidFill>
                  <a:srgbClr val="52606D"/>
                </a:solidFill>
              </a:rPr>
              <a:t>Replace the bracketed names before presenting.</a:t>
            </a:r>
          </a:p>
        </p:txBody>
      </p:sp>
    </p:spTree>
    <p:extLst>
      <p:ext uri="{BB962C8B-B14F-4D97-AF65-F5344CB8AC3E}">
        <p14:creationId xmlns:p14="http://schemas.microsoft.com/office/powerpoint/2010/main" val="147721163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36CD181-5224-4BC0-B0C2-7B034FED0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B4C99D3-9F22-4396-AB89-5EAD359F1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95300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00A6A6"/>
                </a:solidFill>
              </a:defRPr>
            </a:defPPr>
            <a:lvl1pPr>
              <a:defRPr sz="1200" b="1">
                <a:solidFill>
                  <a:srgbClr val="00A6A6"/>
                </a:solidFill>
              </a:defRPr>
            </a:lvl1pPr>
            <a:lvl2pPr>
              <a:defRPr sz="1200" b="1">
                <a:solidFill>
                  <a:srgbClr val="00A6A6"/>
                </a:solidFill>
              </a:defRPr>
            </a:lvl2pPr>
            <a:lvl3pPr>
              <a:defRPr sz="1200" b="1">
                <a:solidFill>
                  <a:srgbClr val="00A6A6"/>
                </a:solidFill>
              </a:defRPr>
            </a:lvl3pPr>
            <a:lvl4pPr>
              <a:defRPr sz="1200" b="1">
                <a:solidFill>
                  <a:srgbClr val="00A6A6"/>
                </a:solidFill>
              </a:defRPr>
            </a:lvl4pPr>
            <a:lvl5pPr>
              <a:defRPr sz="1200" b="1">
                <a:solidFill>
                  <a:srgbClr val="00A6A6"/>
                </a:solidFill>
              </a:defRPr>
            </a:lvl5pPr>
            <a:lvl6pPr>
              <a:defRPr sz="1200" b="1">
                <a:solidFill>
                  <a:srgbClr val="00A6A6"/>
                </a:solidFill>
              </a:defRPr>
            </a:lvl6pPr>
            <a:lvl7pPr>
              <a:defRPr sz="1200" b="1">
                <a:solidFill>
                  <a:srgbClr val="00A6A6"/>
                </a:solidFill>
              </a:defRPr>
            </a:lvl7pPr>
            <a:lvl8pPr>
              <a:defRPr sz="1200" b="1">
                <a:solidFill>
                  <a:srgbClr val="00A6A6"/>
                </a:solidFill>
              </a:defRPr>
            </a:lvl8pPr>
            <a:lvl9pPr>
              <a:defRPr sz="1200" b="1">
                <a:solidFill>
                  <a:srgbClr val="00A6A6"/>
                </a:solidFill>
              </a:defRPr>
            </a:lvl9pPr>
          </a:lstStyle>
          <a:p xmlns:a="http://schemas.openxmlformats.org/drawingml/2006/main">
            <a:pPr>
              <a:buNone/>
              <a:defRPr sz="1200" b="1">
                <a:solidFill>
                  <a:srgbClr val="00A6A6"/>
                </a:solidFill>
              </a:defRPr>
            </a:pPr>
            <a:r>
              <a:rPr sz="1200" b="1">
                <a:solidFill>
                  <a:srgbClr val="00A6A6"/>
                </a:solidFill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6C9AFB4-278C-469B-B4F1-50915A7C8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876300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102A43"/>
                </a:solidFill>
              </a:defRPr>
            </a:defPPr>
            <a:lvl1pPr>
              <a:defRPr sz="2700" b="1">
                <a:solidFill>
                  <a:srgbClr val="102A43"/>
                </a:solidFill>
              </a:defRPr>
            </a:lvl1pPr>
            <a:lvl2pPr>
              <a:defRPr sz="2700" b="1">
                <a:solidFill>
                  <a:srgbClr val="102A43"/>
                </a:solidFill>
              </a:defRPr>
            </a:lvl2pPr>
            <a:lvl3pPr>
              <a:defRPr sz="2700" b="1">
                <a:solidFill>
                  <a:srgbClr val="102A43"/>
                </a:solidFill>
              </a:defRPr>
            </a:lvl3pPr>
            <a:lvl4pPr>
              <a:defRPr sz="2700" b="1">
                <a:solidFill>
                  <a:srgbClr val="102A43"/>
                </a:solidFill>
              </a:defRPr>
            </a:lvl4pPr>
            <a:lvl5pPr>
              <a:defRPr sz="2700" b="1">
                <a:solidFill>
                  <a:srgbClr val="102A43"/>
                </a:solidFill>
              </a:defRPr>
            </a:lvl5pPr>
            <a:lvl6pPr>
              <a:defRPr sz="2700" b="1">
                <a:solidFill>
                  <a:srgbClr val="102A43"/>
                </a:solidFill>
              </a:defRPr>
            </a:lvl6pPr>
            <a:lvl7pPr>
              <a:defRPr sz="2700" b="1">
                <a:solidFill>
                  <a:srgbClr val="102A43"/>
                </a:solidFill>
              </a:defRPr>
            </a:lvl7pPr>
            <a:lvl8pPr>
              <a:defRPr sz="2700" b="1">
                <a:solidFill>
                  <a:srgbClr val="102A43"/>
                </a:solidFill>
              </a:defRPr>
            </a:lvl8pPr>
            <a:lvl9pPr>
              <a:defRPr sz="2700" b="1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>
              <a:buNone/>
              <a:defRPr sz="2700" b="1">
                <a:solidFill>
                  <a:srgbClr val="102A43"/>
                </a:solidFill>
              </a:defRPr>
            </a:pPr>
            <a:r>
              <a:rPr sz="2700" b="1">
                <a:solidFill>
                  <a:srgbClr val="102A43"/>
                </a:solidFill>
              </a:rPr>
              <a:t>Architecture and data structures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993F5B1-A784-4F4E-B98F-6D6F2583B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71625"/>
            <a:ext cx="10782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5D8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1BD9398-AEAC-4D23-995B-DAF2A4FBE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000250"/>
            <a:ext cx="2571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1">
                <a:solidFill>
                  <a:srgbClr val="00A6A6"/>
                </a:solidFill>
              </a:defRPr>
            </a:defPPr>
            <a:lvl1pPr>
              <a:defRPr sz="1950" b="1">
                <a:solidFill>
                  <a:srgbClr val="00A6A6"/>
                </a:solidFill>
              </a:defRPr>
            </a:lvl1pPr>
            <a:lvl2pPr>
              <a:defRPr sz="1950" b="1">
                <a:solidFill>
                  <a:srgbClr val="00A6A6"/>
                </a:solidFill>
              </a:defRPr>
            </a:lvl2pPr>
            <a:lvl3pPr>
              <a:defRPr sz="1950" b="1">
                <a:solidFill>
                  <a:srgbClr val="00A6A6"/>
                </a:solidFill>
              </a:defRPr>
            </a:lvl3pPr>
            <a:lvl4pPr>
              <a:defRPr sz="1950" b="1">
                <a:solidFill>
                  <a:srgbClr val="00A6A6"/>
                </a:solidFill>
              </a:defRPr>
            </a:lvl4pPr>
            <a:lvl5pPr>
              <a:defRPr sz="1950" b="1">
                <a:solidFill>
                  <a:srgbClr val="00A6A6"/>
                </a:solidFill>
              </a:defRPr>
            </a:lvl5pPr>
            <a:lvl6pPr>
              <a:defRPr sz="1950" b="1">
                <a:solidFill>
                  <a:srgbClr val="00A6A6"/>
                </a:solidFill>
              </a:defRPr>
            </a:lvl6pPr>
            <a:lvl7pPr>
              <a:defRPr sz="1950" b="1">
                <a:solidFill>
                  <a:srgbClr val="00A6A6"/>
                </a:solidFill>
              </a:defRPr>
            </a:lvl7pPr>
            <a:lvl8pPr>
              <a:defRPr sz="1950" b="1">
                <a:solidFill>
                  <a:srgbClr val="00A6A6"/>
                </a:solidFill>
              </a:defRPr>
            </a:lvl8pPr>
            <a:lvl9pPr>
              <a:defRPr sz="1950" b="1">
                <a:solidFill>
                  <a:srgbClr val="00A6A6"/>
                </a:solidFill>
              </a:defRPr>
            </a:lvl9pPr>
          </a:lstStyle>
          <a:p xmlns:a="http://schemas.openxmlformats.org/drawingml/2006/main">
            <a:pPr>
              <a:buNone/>
              <a:defRPr sz="1950" b="1">
                <a:solidFill>
                  <a:srgbClr val="00A6A6"/>
                </a:solidFill>
              </a:defRPr>
            </a:pPr>
            <a:r>
              <a:rPr sz="1950" b="1">
                <a:solidFill>
                  <a:srgbClr val="00A6A6"/>
                </a:solidFill>
              </a:rPr>
              <a:t>HospitalApp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A7F8CD4-DD18-4C8D-BDAE-846762415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457450"/>
            <a:ext cx="3333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0">
                <a:solidFill>
                  <a:srgbClr val="52606D"/>
                </a:solidFill>
              </a:defRPr>
            </a:defPPr>
            <a:lvl1pPr>
              <a:defRPr sz="1425" b="0">
                <a:solidFill>
                  <a:srgbClr val="52606D"/>
                </a:solidFill>
              </a:defRPr>
            </a:lvl1pPr>
            <a:lvl2pPr>
              <a:defRPr sz="1425" b="0">
                <a:solidFill>
                  <a:srgbClr val="52606D"/>
                </a:solidFill>
              </a:defRPr>
            </a:lvl2pPr>
            <a:lvl3pPr>
              <a:defRPr sz="1425" b="0">
                <a:solidFill>
                  <a:srgbClr val="52606D"/>
                </a:solidFill>
              </a:defRPr>
            </a:lvl3pPr>
            <a:lvl4pPr>
              <a:defRPr sz="1425" b="0">
                <a:solidFill>
                  <a:srgbClr val="52606D"/>
                </a:solidFill>
              </a:defRPr>
            </a:lvl4pPr>
            <a:lvl5pPr>
              <a:defRPr sz="1425" b="0">
                <a:solidFill>
                  <a:srgbClr val="52606D"/>
                </a:solidFill>
              </a:defRPr>
            </a:lvl5pPr>
            <a:lvl6pPr>
              <a:defRPr sz="1425" b="0">
                <a:solidFill>
                  <a:srgbClr val="52606D"/>
                </a:solidFill>
              </a:defRPr>
            </a:lvl6pPr>
            <a:lvl7pPr>
              <a:defRPr sz="1425" b="0">
                <a:solidFill>
                  <a:srgbClr val="52606D"/>
                </a:solidFill>
              </a:defRPr>
            </a:lvl7pPr>
            <a:lvl8pPr>
              <a:defRPr sz="1425" b="0">
                <a:solidFill>
                  <a:srgbClr val="52606D"/>
                </a:solidFill>
              </a:defRPr>
            </a:lvl8pPr>
            <a:lvl9pPr>
              <a:defRPr sz="1425" b="0">
                <a:solidFill>
                  <a:srgbClr val="52606D"/>
                </a:solidFill>
              </a:defRPr>
            </a:lvl9pPr>
          </a:lstStyle>
          <a:p xmlns:a="http://schemas.openxmlformats.org/drawingml/2006/main">
            <a:pPr>
              <a:buNone/>
              <a:defRPr sz="1425" b="0">
                <a:solidFill>
                  <a:srgbClr val="52606D"/>
                </a:solidFill>
              </a:defRPr>
            </a:pPr>
            <a:r>
              <a:rPr sz="1425" b="0">
                <a:solidFill>
                  <a:srgbClr val="52606D"/>
                </a:solidFill>
              </a:rPr>
              <a:t>Central controller for login, dashboard routing, and module coordination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078A5BD-2FF0-44BE-872A-5E499ADB7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1943100"/>
            <a:ext cx="19050" cy="3524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5D8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A3007B1-6014-49A2-9A73-1EE05027D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962150"/>
            <a:ext cx="3143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102A43"/>
                </a:solidFill>
              </a:defRPr>
            </a:defPPr>
            <a:lvl1pPr>
              <a:defRPr sz="1650" b="1">
                <a:solidFill>
                  <a:srgbClr val="102A43"/>
                </a:solidFill>
              </a:defRPr>
            </a:lvl1pPr>
            <a:lvl2pPr>
              <a:defRPr sz="1650" b="1">
                <a:solidFill>
                  <a:srgbClr val="102A43"/>
                </a:solidFill>
              </a:defRPr>
            </a:lvl2pPr>
            <a:lvl3pPr>
              <a:defRPr sz="1650" b="1">
                <a:solidFill>
                  <a:srgbClr val="102A43"/>
                </a:solidFill>
              </a:defRPr>
            </a:lvl3pPr>
            <a:lvl4pPr>
              <a:defRPr sz="1650" b="1">
                <a:solidFill>
                  <a:srgbClr val="102A43"/>
                </a:solidFill>
              </a:defRPr>
            </a:lvl4pPr>
            <a:lvl5pPr>
              <a:defRPr sz="1650" b="1">
                <a:solidFill>
                  <a:srgbClr val="102A43"/>
                </a:solidFill>
              </a:defRPr>
            </a:lvl5pPr>
            <a:lvl6pPr>
              <a:defRPr sz="1650" b="1">
                <a:solidFill>
                  <a:srgbClr val="102A43"/>
                </a:solidFill>
              </a:defRPr>
            </a:lvl6pPr>
            <a:lvl7pPr>
              <a:defRPr sz="1650" b="1">
                <a:solidFill>
                  <a:srgbClr val="102A43"/>
                </a:solidFill>
              </a:defRPr>
            </a:lvl7pPr>
            <a:lvl8pPr>
              <a:defRPr sz="1650" b="1">
                <a:solidFill>
                  <a:srgbClr val="102A43"/>
                </a:solidFill>
              </a:defRPr>
            </a:lvl8pPr>
            <a:lvl9pPr>
              <a:defRPr sz="1650" b="1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>
              <a:buNone/>
              <a:defRPr sz="1650" b="1">
                <a:solidFill>
                  <a:srgbClr val="102A43"/>
                </a:solidFill>
              </a:defRPr>
            </a:pPr>
            <a:r>
              <a:rPr sz="1650" b="1">
                <a:solidFill>
                  <a:srgbClr val="102A43"/>
                </a:solidFill>
              </a:rPr>
              <a:t>Staff and patient care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91429E7-254C-40FD-AF36-66CB8B38B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419350"/>
            <a:ext cx="2619375" cy="270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0">
                <a:solidFill>
                  <a:srgbClr val="172B4D"/>
                </a:solidFill>
              </a:defRPr>
            </a:defPPr>
            <a:lvl1pPr>
              <a:defRPr sz="1425" b="0">
                <a:solidFill>
                  <a:srgbClr val="172B4D"/>
                </a:solidFill>
              </a:defRPr>
            </a:lvl1pPr>
            <a:lvl2pPr>
              <a:defRPr sz="1425" b="0">
                <a:solidFill>
                  <a:srgbClr val="172B4D"/>
                </a:solidFill>
              </a:defRPr>
            </a:lvl2pPr>
            <a:lvl3pPr>
              <a:defRPr sz="1425" b="0">
                <a:solidFill>
                  <a:srgbClr val="172B4D"/>
                </a:solidFill>
              </a:defRPr>
            </a:lvl3pPr>
            <a:lvl4pPr>
              <a:defRPr sz="1425" b="0">
                <a:solidFill>
                  <a:srgbClr val="172B4D"/>
                </a:solidFill>
              </a:defRPr>
            </a:lvl4pPr>
            <a:lvl5pPr>
              <a:defRPr sz="1425" b="0">
                <a:solidFill>
                  <a:srgbClr val="172B4D"/>
                </a:solidFill>
              </a:defRPr>
            </a:lvl5pPr>
            <a:lvl6pPr>
              <a:defRPr sz="1425" b="0">
                <a:solidFill>
                  <a:srgbClr val="172B4D"/>
                </a:solidFill>
              </a:defRPr>
            </a:lvl6pPr>
            <a:lvl7pPr>
              <a:defRPr sz="1425" b="0">
                <a:solidFill>
                  <a:srgbClr val="172B4D"/>
                </a:solidFill>
              </a:defRPr>
            </a:lvl7pPr>
            <a:lvl8pPr>
              <a:defRPr sz="1425" b="0">
                <a:solidFill>
                  <a:srgbClr val="172B4D"/>
                </a:solidFill>
              </a:defRPr>
            </a:lvl8pPr>
            <a:lvl9pPr>
              <a:defRPr sz="1425" b="0">
                <a:solidFill>
                  <a:srgbClr val="172B4D"/>
                </a:solidFill>
              </a:defRPr>
            </a:lvl9pPr>
          </a:lstStyle>
          <a:p xmlns:a="http://schemas.openxmlformats.org/drawingml/2006/main">
            <a:pPr>
              <a:buNone/>
              <a:defRPr sz="1425" b="0">
                <a:solidFill>
                  <a:srgbClr val="172B4D"/>
                </a:solidFill>
              </a:defRPr>
            </a:pPr>
            <a:r>
              <a:rPr sz="1425" b="0">
                <a:solidFill>
                  <a:srgbClr val="172B4D"/>
                </a:solidFill>
              </a:rPr>
              <a:t>AVL tree</a:t>
            </a:r>
          </a:p>
          <a:p xmlns:a="http://schemas.openxmlformats.org/drawingml/2006/main">
            <a:pPr>
              <a:buNone/>
              <a:defRPr sz="1425" b="0">
                <a:solidFill>
                  <a:srgbClr val="172B4D"/>
                </a:solidFill>
              </a:defRPr>
            </a:pPr>
            <a:r>
              <a:rPr sz="1425" b="0">
                <a:solidFill>
                  <a:srgbClr val="172B4D"/>
                </a:solidFill>
              </a:rPr>
              <a:t>Staff records by ID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425" b="0">
                <a:solidFill>
                  <a:srgbClr val="172B4D"/>
                </a:solidFill>
              </a:defRPr>
            </a:pPr>
            <a:r>
              <a:rPr sz="1425" b="0">
                <a:solidFill>
                  <a:srgbClr val="172B4D"/>
                </a:solidFill>
              </a:rPr>
              <a:t>Max-heap</a:t>
            </a:r>
          </a:p>
          <a:p xmlns:a="http://schemas.openxmlformats.org/drawingml/2006/main">
            <a:pPr>
              <a:buNone/>
              <a:defRPr sz="1425" b="0">
                <a:solidFill>
                  <a:srgbClr val="172B4D"/>
                </a:solidFill>
              </a:defRPr>
            </a:pPr>
            <a:r>
              <a:rPr sz="1425" b="0">
                <a:solidFill>
                  <a:srgbClr val="172B4D"/>
                </a:solidFill>
              </a:rPr>
              <a:t>Priority appointments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425" b="0">
                <a:solidFill>
                  <a:srgbClr val="172B4D"/>
                </a:solidFill>
              </a:defRPr>
            </a:pPr>
            <a:r>
              <a:rPr sz="1425" b="0">
                <a:solidFill>
                  <a:srgbClr val="172B4D"/>
                </a:solidFill>
              </a:rPr>
              <a:t>Hash map</a:t>
            </a:r>
          </a:p>
          <a:p xmlns:a="http://schemas.openxmlformats.org/drawingml/2006/main">
            <a:pPr>
              <a:buNone/>
              <a:defRPr sz="1425" b="0">
                <a:solidFill>
                  <a:srgbClr val="172B4D"/>
                </a:solidFill>
              </a:defRPr>
            </a:pPr>
            <a:r>
              <a:rPr sz="1425" b="0">
                <a:solidFill>
                  <a:srgbClr val="172B4D"/>
                </a:solidFill>
              </a:rPr>
              <a:t>Admitted patient lookup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3E427C8-1358-4784-B72E-DA1A39AA8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1962150"/>
            <a:ext cx="3143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102A43"/>
                </a:solidFill>
              </a:defRPr>
            </a:defPPr>
            <a:lvl1pPr>
              <a:defRPr sz="1650" b="1">
                <a:solidFill>
                  <a:srgbClr val="102A43"/>
                </a:solidFill>
              </a:defRPr>
            </a:lvl1pPr>
            <a:lvl2pPr>
              <a:defRPr sz="1650" b="1">
                <a:solidFill>
                  <a:srgbClr val="102A43"/>
                </a:solidFill>
              </a:defRPr>
            </a:lvl2pPr>
            <a:lvl3pPr>
              <a:defRPr sz="1650" b="1">
                <a:solidFill>
                  <a:srgbClr val="102A43"/>
                </a:solidFill>
              </a:defRPr>
            </a:lvl3pPr>
            <a:lvl4pPr>
              <a:defRPr sz="1650" b="1">
                <a:solidFill>
                  <a:srgbClr val="102A43"/>
                </a:solidFill>
              </a:defRPr>
            </a:lvl4pPr>
            <a:lvl5pPr>
              <a:defRPr sz="1650" b="1">
                <a:solidFill>
                  <a:srgbClr val="102A43"/>
                </a:solidFill>
              </a:defRPr>
            </a:lvl5pPr>
            <a:lvl6pPr>
              <a:defRPr sz="1650" b="1">
                <a:solidFill>
                  <a:srgbClr val="102A43"/>
                </a:solidFill>
              </a:defRPr>
            </a:lvl6pPr>
            <a:lvl7pPr>
              <a:defRPr sz="1650" b="1">
                <a:solidFill>
                  <a:srgbClr val="102A43"/>
                </a:solidFill>
              </a:defRPr>
            </a:lvl7pPr>
            <a:lvl8pPr>
              <a:defRPr sz="1650" b="1">
                <a:solidFill>
                  <a:srgbClr val="102A43"/>
                </a:solidFill>
              </a:defRPr>
            </a:lvl8pPr>
            <a:lvl9pPr>
              <a:defRPr sz="1650" b="1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>
              <a:buNone/>
              <a:defRPr sz="1650" b="1">
                <a:solidFill>
                  <a:srgbClr val="102A43"/>
                </a:solidFill>
              </a:defRPr>
            </a:pPr>
            <a:r>
              <a:rPr sz="1650" b="1">
                <a:solidFill>
                  <a:srgbClr val="102A43"/>
                </a:solidFill>
              </a:rPr>
              <a:t>Operations and navigation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3536544-4DA5-49AB-B72E-97C91A6B0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2419350"/>
            <a:ext cx="2619375" cy="270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0">
                <a:solidFill>
                  <a:srgbClr val="172B4D"/>
                </a:solidFill>
              </a:defRPr>
            </a:defPPr>
            <a:lvl1pPr>
              <a:defRPr sz="1425" b="0">
                <a:solidFill>
                  <a:srgbClr val="172B4D"/>
                </a:solidFill>
              </a:defRPr>
            </a:lvl1pPr>
            <a:lvl2pPr>
              <a:defRPr sz="1425" b="0">
                <a:solidFill>
                  <a:srgbClr val="172B4D"/>
                </a:solidFill>
              </a:defRPr>
            </a:lvl2pPr>
            <a:lvl3pPr>
              <a:defRPr sz="1425" b="0">
                <a:solidFill>
                  <a:srgbClr val="172B4D"/>
                </a:solidFill>
              </a:defRPr>
            </a:lvl3pPr>
            <a:lvl4pPr>
              <a:defRPr sz="1425" b="0">
                <a:solidFill>
                  <a:srgbClr val="172B4D"/>
                </a:solidFill>
              </a:defRPr>
            </a:lvl4pPr>
            <a:lvl5pPr>
              <a:defRPr sz="1425" b="0">
                <a:solidFill>
                  <a:srgbClr val="172B4D"/>
                </a:solidFill>
              </a:defRPr>
            </a:lvl5pPr>
            <a:lvl6pPr>
              <a:defRPr sz="1425" b="0">
                <a:solidFill>
                  <a:srgbClr val="172B4D"/>
                </a:solidFill>
              </a:defRPr>
            </a:lvl6pPr>
            <a:lvl7pPr>
              <a:defRPr sz="1425" b="0">
                <a:solidFill>
                  <a:srgbClr val="172B4D"/>
                </a:solidFill>
              </a:defRPr>
            </a:lvl7pPr>
            <a:lvl8pPr>
              <a:defRPr sz="1425" b="0">
                <a:solidFill>
                  <a:srgbClr val="172B4D"/>
                </a:solidFill>
              </a:defRPr>
            </a:lvl8pPr>
            <a:lvl9pPr>
              <a:defRPr sz="1425" b="0">
                <a:solidFill>
                  <a:srgbClr val="172B4D"/>
                </a:solidFill>
              </a:defRPr>
            </a:lvl9pPr>
          </a:lstStyle>
          <a:p xmlns:a="http://schemas.openxmlformats.org/drawingml/2006/main">
            <a:pPr>
              <a:buNone/>
              <a:defRPr sz="1425" b="0">
                <a:solidFill>
                  <a:srgbClr val="172B4D"/>
                </a:solidFill>
              </a:defRPr>
            </a:pPr>
            <a:r>
              <a:rPr sz="1425" b="0">
                <a:solidFill>
                  <a:srgbClr val="172B4D"/>
                </a:solidFill>
              </a:rPr>
              <a:t>Stacks and queue</a:t>
            </a:r>
          </a:p>
          <a:p xmlns:a="http://schemas.openxmlformats.org/drawingml/2006/main">
            <a:pPr>
              <a:buNone/>
              <a:defRPr sz="1425" b="0">
                <a:solidFill>
                  <a:srgbClr val="172B4D"/>
                </a:solidFill>
              </a:defRPr>
            </a:pPr>
            <a:r>
              <a:rPr sz="1425" b="0">
                <a:solidFill>
                  <a:srgbClr val="172B4D"/>
                </a:solidFill>
              </a:rPr>
              <a:t>Emergency, history, feedback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425" b="0">
                <a:solidFill>
                  <a:srgbClr val="172B4D"/>
                </a:solidFill>
              </a:defRPr>
            </a:pPr>
            <a:r>
              <a:rPr sz="1425" b="0">
                <a:solidFill>
                  <a:srgbClr val="172B4D"/>
                </a:solidFill>
              </a:rPr>
              <a:t>Trie</a:t>
            </a:r>
          </a:p>
          <a:p xmlns:a="http://schemas.openxmlformats.org/drawingml/2006/main">
            <a:pPr>
              <a:buNone/>
              <a:defRPr sz="1425" b="0">
                <a:solidFill>
                  <a:srgbClr val="172B4D"/>
                </a:solidFill>
              </a:defRPr>
            </a:pPr>
            <a:r>
              <a:rPr sz="1425" b="0">
                <a:solidFill>
                  <a:srgbClr val="172B4D"/>
                </a:solidFill>
              </a:rPr>
              <a:t>Prefix search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425" b="0">
                <a:solidFill>
                  <a:srgbClr val="172B4D"/>
                </a:solidFill>
              </a:defRPr>
            </a:pPr>
            <a:r>
              <a:rPr sz="1425" b="0">
                <a:solidFill>
                  <a:srgbClr val="172B4D"/>
                </a:solidFill>
              </a:rPr>
              <a:t>Graph and Dijkstra</a:t>
            </a:r>
          </a:p>
          <a:p xmlns:a="http://schemas.openxmlformats.org/drawingml/2006/main">
            <a:pPr>
              <a:buNone/>
              <a:defRPr sz="1425" b="0">
                <a:solidFill>
                  <a:srgbClr val="172B4D"/>
                </a:solidFill>
              </a:defRPr>
            </a:pPr>
            <a:r>
              <a:rPr sz="1425" b="0">
                <a:solidFill>
                  <a:srgbClr val="172B4D"/>
                </a:solidFill>
              </a:rPr>
              <a:t>Shortest hospital route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F6D26A8-81D8-4A71-A8F5-0F471BC28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5619750"/>
            <a:ext cx="628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00A6A6"/>
                </a:solidFill>
              </a:defRPr>
            </a:defPPr>
            <a:lvl1pPr>
              <a:defRPr sz="1350" b="1">
                <a:solidFill>
                  <a:srgbClr val="00A6A6"/>
                </a:solidFill>
              </a:defRPr>
            </a:lvl1pPr>
            <a:lvl2pPr>
              <a:defRPr sz="1350" b="1">
                <a:solidFill>
                  <a:srgbClr val="00A6A6"/>
                </a:solidFill>
              </a:defRPr>
            </a:lvl2pPr>
            <a:lvl3pPr>
              <a:defRPr sz="1350" b="1">
                <a:solidFill>
                  <a:srgbClr val="00A6A6"/>
                </a:solidFill>
              </a:defRPr>
            </a:lvl3pPr>
            <a:lvl4pPr>
              <a:defRPr sz="1350" b="1">
                <a:solidFill>
                  <a:srgbClr val="00A6A6"/>
                </a:solidFill>
              </a:defRPr>
            </a:lvl4pPr>
            <a:lvl5pPr>
              <a:defRPr sz="1350" b="1">
                <a:solidFill>
                  <a:srgbClr val="00A6A6"/>
                </a:solidFill>
              </a:defRPr>
            </a:lvl5pPr>
            <a:lvl6pPr>
              <a:defRPr sz="1350" b="1">
                <a:solidFill>
                  <a:srgbClr val="00A6A6"/>
                </a:solidFill>
              </a:defRPr>
            </a:lvl6pPr>
            <a:lvl7pPr>
              <a:defRPr sz="1350" b="1">
                <a:solidFill>
                  <a:srgbClr val="00A6A6"/>
                </a:solidFill>
              </a:defRPr>
            </a:lvl7pPr>
            <a:lvl8pPr>
              <a:defRPr sz="1350" b="1">
                <a:solidFill>
                  <a:srgbClr val="00A6A6"/>
                </a:solidFill>
              </a:defRPr>
            </a:lvl8pPr>
            <a:lvl9pPr>
              <a:defRPr sz="1350" b="1">
                <a:solidFill>
                  <a:srgbClr val="00A6A6"/>
                </a:solidFill>
              </a:defRPr>
            </a:lvl9pPr>
          </a:lstStyle>
          <a:p xmlns:a="http://schemas.openxmlformats.org/drawingml/2006/main">
            <a:pPr>
              <a:buNone/>
              <a:defRPr sz="1350" b="1">
                <a:solidFill>
                  <a:srgbClr val="00A6A6"/>
                </a:solidFill>
              </a:defRPr>
            </a:pPr>
            <a:r>
              <a:rPr sz="1350" b="1">
                <a:solidFill>
                  <a:srgbClr val="00A6A6"/>
                </a:solidFill>
              </a:rPr>
              <a:t>Doubly and circular linked lists support viewing history and on-call shifts.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21E1C9C-3163-4425-801A-B0F1F8F14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419850"/>
            <a:ext cx="666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0">
                <a:solidFill>
                  <a:srgbClr val="52606D"/>
                </a:solidFill>
              </a:defRPr>
            </a:defPPr>
            <a:lvl1pPr>
              <a:defRPr sz="900" b="0">
                <a:solidFill>
                  <a:srgbClr val="52606D"/>
                </a:solidFill>
              </a:defRPr>
            </a:lvl1pPr>
            <a:lvl2pPr>
              <a:defRPr sz="900" b="0">
                <a:solidFill>
                  <a:srgbClr val="52606D"/>
                </a:solidFill>
              </a:defRPr>
            </a:lvl2pPr>
            <a:lvl3pPr>
              <a:defRPr sz="900" b="0">
                <a:solidFill>
                  <a:srgbClr val="52606D"/>
                </a:solidFill>
              </a:defRPr>
            </a:lvl3pPr>
            <a:lvl4pPr>
              <a:defRPr sz="900" b="0">
                <a:solidFill>
                  <a:srgbClr val="52606D"/>
                </a:solidFill>
              </a:defRPr>
            </a:lvl4pPr>
            <a:lvl5pPr>
              <a:defRPr sz="900" b="0">
                <a:solidFill>
                  <a:srgbClr val="52606D"/>
                </a:solidFill>
              </a:defRPr>
            </a:lvl5pPr>
            <a:lvl6pPr>
              <a:defRPr sz="900" b="0">
                <a:solidFill>
                  <a:srgbClr val="52606D"/>
                </a:solidFill>
              </a:defRPr>
            </a:lvl6pPr>
            <a:lvl7pPr>
              <a:defRPr sz="900" b="0">
                <a:solidFill>
                  <a:srgbClr val="52606D"/>
                </a:solidFill>
              </a:defRPr>
            </a:lvl7pPr>
            <a:lvl8pPr>
              <a:defRPr sz="900" b="0">
                <a:solidFill>
                  <a:srgbClr val="52606D"/>
                </a:solidFill>
              </a:defRPr>
            </a:lvl8pPr>
            <a:lvl9pPr>
              <a:defRPr sz="900" b="0">
                <a:solidFill>
                  <a:srgbClr val="52606D"/>
                </a:solidFill>
              </a:defRPr>
            </a:lvl9pPr>
          </a:lstStyle>
          <a:p xmlns:a="http://schemas.openxmlformats.org/drawingml/2006/main">
            <a:pPr>
              <a:buNone/>
              <a:defRPr sz="900" b="0">
                <a:solidFill>
                  <a:srgbClr val="52606D"/>
                </a:solidFill>
              </a:defRPr>
            </a:pPr>
            <a:r>
              <a:rPr sz="900" b="0">
                <a:solidFill>
                  <a:srgbClr val="52606D"/>
                </a:solidFill>
              </a:rPr>
              <a:t>Hospital Management System | C++17 DSA Project</a:t>
            </a:r>
          </a:p>
        </p:txBody>
      </p:sp>
    </p:spTree>
    <p:extLst>
      <p:ext uri="{BB962C8B-B14F-4D97-AF65-F5344CB8AC3E}">
        <p14:creationId xmlns:p14="http://schemas.microsoft.com/office/powerpoint/2010/main" val="187286317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EEF5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9D8FF7E-42D2-4A01-8FA7-4A17A3384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8D7CE27-42AC-45CC-A38E-7950FB223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95300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00A6A6"/>
                </a:solidFill>
              </a:defRPr>
            </a:defPPr>
            <a:lvl1pPr>
              <a:defRPr sz="1200" b="1">
                <a:solidFill>
                  <a:srgbClr val="00A6A6"/>
                </a:solidFill>
              </a:defRPr>
            </a:lvl1pPr>
            <a:lvl2pPr>
              <a:defRPr sz="1200" b="1">
                <a:solidFill>
                  <a:srgbClr val="00A6A6"/>
                </a:solidFill>
              </a:defRPr>
            </a:lvl2pPr>
            <a:lvl3pPr>
              <a:defRPr sz="1200" b="1">
                <a:solidFill>
                  <a:srgbClr val="00A6A6"/>
                </a:solidFill>
              </a:defRPr>
            </a:lvl3pPr>
            <a:lvl4pPr>
              <a:defRPr sz="1200" b="1">
                <a:solidFill>
                  <a:srgbClr val="00A6A6"/>
                </a:solidFill>
              </a:defRPr>
            </a:lvl4pPr>
            <a:lvl5pPr>
              <a:defRPr sz="1200" b="1">
                <a:solidFill>
                  <a:srgbClr val="00A6A6"/>
                </a:solidFill>
              </a:defRPr>
            </a:lvl5pPr>
            <a:lvl6pPr>
              <a:defRPr sz="1200" b="1">
                <a:solidFill>
                  <a:srgbClr val="00A6A6"/>
                </a:solidFill>
              </a:defRPr>
            </a:lvl6pPr>
            <a:lvl7pPr>
              <a:defRPr sz="1200" b="1">
                <a:solidFill>
                  <a:srgbClr val="00A6A6"/>
                </a:solidFill>
              </a:defRPr>
            </a:lvl7pPr>
            <a:lvl8pPr>
              <a:defRPr sz="1200" b="1">
                <a:solidFill>
                  <a:srgbClr val="00A6A6"/>
                </a:solidFill>
              </a:defRPr>
            </a:lvl8pPr>
            <a:lvl9pPr>
              <a:defRPr sz="1200" b="1">
                <a:solidFill>
                  <a:srgbClr val="00A6A6"/>
                </a:solidFill>
              </a:defRPr>
            </a:lvl9pPr>
          </a:lstStyle>
          <a:p xmlns:a="http://schemas.openxmlformats.org/drawingml/2006/main">
            <a:pPr>
              <a:buNone/>
              <a:defRPr sz="1200" b="1">
                <a:solidFill>
                  <a:srgbClr val="00A6A6"/>
                </a:solidFill>
              </a:defRPr>
            </a:pPr>
            <a:r>
              <a:rPr sz="1200" b="1">
                <a:solidFill>
                  <a:srgbClr val="00A6A6"/>
                </a:solidFill>
              </a:rP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DB6EB7C-919B-4777-9723-D08ABE81B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876300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102A43"/>
                </a:solidFill>
              </a:defRPr>
            </a:defPPr>
            <a:lvl1pPr>
              <a:defRPr sz="2700" b="1">
                <a:solidFill>
                  <a:srgbClr val="102A43"/>
                </a:solidFill>
              </a:defRPr>
            </a:lvl1pPr>
            <a:lvl2pPr>
              <a:defRPr sz="2700" b="1">
                <a:solidFill>
                  <a:srgbClr val="102A43"/>
                </a:solidFill>
              </a:defRPr>
            </a:lvl2pPr>
            <a:lvl3pPr>
              <a:defRPr sz="2700" b="1">
                <a:solidFill>
                  <a:srgbClr val="102A43"/>
                </a:solidFill>
              </a:defRPr>
            </a:lvl3pPr>
            <a:lvl4pPr>
              <a:defRPr sz="2700" b="1">
                <a:solidFill>
                  <a:srgbClr val="102A43"/>
                </a:solidFill>
              </a:defRPr>
            </a:lvl4pPr>
            <a:lvl5pPr>
              <a:defRPr sz="2700" b="1">
                <a:solidFill>
                  <a:srgbClr val="102A43"/>
                </a:solidFill>
              </a:defRPr>
            </a:lvl5pPr>
            <a:lvl6pPr>
              <a:defRPr sz="2700" b="1">
                <a:solidFill>
                  <a:srgbClr val="102A43"/>
                </a:solidFill>
              </a:defRPr>
            </a:lvl6pPr>
            <a:lvl7pPr>
              <a:defRPr sz="2700" b="1">
                <a:solidFill>
                  <a:srgbClr val="102A43"/>
                </a:solidFill>
              </a:defRPr>
            </a:lvl7pPr>
            <a:lvl8pPr>
              <a:defRPr sz="2700" b="1">
                <a:solidFill>
                  <a:srgbClr val="102A43"/>
                </a:solidFill>
              </a:defRPr>
            </a:lvl8pPr>
            <a:lvl9pPr>
              <a:defRPr sz="2700" b="1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>
              <a:buNone/>
              <a:defRPr sz="2700" b="1">
                <a:solidFill>
                  <a:srgbClr val="102A43"/>
                </a:solidFill>
              </a:defRPr>
            </a:pPr>
            <a:r>
              <a:rPr sz="2700" b="1">
                <a:solidFill>
                  <a:srgbClr val="102A43"/>
                </a:solidFill>
              </a:rPr>
              <a:t>Workflow and verification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D532967-959B-4EC4-B123-E9D7FD977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71625"/>
            <a:ext cx="10782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5D8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86204FE-6A34-4384-8FCD-280A21C13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019300"/>
            <a:ext cx="3333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00A6A6"/>
                </a:solidFill>
              </a:defRPr>
            </a:defPPr>
            <a:lvl1pPr>
              <a:defRPr sz="1650" b="1">
                <a:solidFill>
                  <a:srgbClr val="00A6A6"/>
                </a:solidFill>
              </a:defRPr>
            </a:lvl1pPr>
            <a:lvl2pPr>
              <a:defRPr sz="1650" b="1">
                <a:solidFill>
                  <a:srgbClr val="00A6A6"/>
                </a:solidFill>
              </a:defRPr>
            </a:lvl2pPr>
            <a:lvl3pPr>
              <a:defRPr sz="1650" b="1">
                <a:solidFill>
                  <a:srgbClr val="00A6A6"/>
                </a:solidFill>
              </a:defRPr>
            </a:lvl3pPr>
            <a:lvl4pPr>
              <a:defRPr sz="1650" b="1">
                <a:solidFill>
                  <a:srgbClr val="00A6A6"/>
                </a:solidFill>
              </a:defRPr>
            </a:lvl4pPr>
            <a:lvl5pPr>
              <a:defRPr sz="1650" b="1">
                <a:solidFill>
                  <a:srgbClr val="00A6A6"/>
                </a:solidFill>
              </a:defRPr>
            </a:lvl5pPr>
            <a:lvl6pPr>
              <a:defRPr sz="1650" b="1">
                <a:solidFill>
                  <a:srgbClr val="00A6A6"/>
                </a:solidFill>
              </a:defRPr>
            </a:lvl6pPr>
            <a:lvl7pPr>
              <a:defRPr sz="1650" b="1">
                <a:solidFill>
                  <a:srgbClr val="00A6A6"/>
                </a:solidFill>
              </a:defRPr>
            </a:lvl7pPr>
            <a:lvl8pPr>
              <a:defRPr sz="1650" b="1">
                <a:solidFill>
                  <a:srgbClr val="00A6A6"/>
                </a:solidFill>
              </a:defRPr>
            </a:lvl8pPr>
            <a:lvl9pPr>
              <a:defRPr sz="1650" b="1">
                <a:solidFill>
                  <a:srgbClr val="00A6A6"/>
                </a:solidFill>
              </a:defRPr>
            </a:lvl9pPr>
          </a:lstStyle>
          <a:p xmlns:a="http://schemas.openxmlformats.org/drawingml/2006/main">
            <a:pPr>
              <a:buNone/>
              <a:defRPr sz="1650" b="1">
                <a:solidFill>
                  <a:srgbClr val="00A6A6"/>
                </a:solidFill>
              </a:defRPr>
            </a:pPr>
            <a:r>
              <a:rPr sz="1650" b="1">
                <a:solidFill>
                  <a:srgbClr val="00A6A6"/>
                </a:solidFill>
              </a:rPr>
              <a:t>Verified demonstration flow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1B26C50-5E82-4560-B7D5-6C3170278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476500"/>
            <a:ext cx="4333875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172B4D"/>
                </a:solidFill>
              </a:defRPr>
            </a:defPPr>
            <a:lvl1pPr>
              <a:defRPr sz="1500" b="0">
                <a:solidFill>
                  <a:srgbClr val="172B4D"/>
                </a:solidFill>
              </a:defRPr>
            </a:lvl1pPr>
            <a:lvl2pPr>
              <a:defRPr sz="1500" b="0">
                <a:solidFill>
                  <a:srgbClr val="172B4D"/>
                </a:solidFill>
              </a:defRPr>
            </a:lvl2pPr>
            <a:lvl3pPr>
              <a:defRPr sz="1500" b="0">
                <a:solidFill>
                  <a:srgbClr val="172B4D"/>
                </a:solidFill>
              </a:defRPr>
            </a:lvl3pPr>
            <a:lvl4pPr>
              <a:defRPr sz="1500" b="0">
                <a:solidFill>
                  <a:srgbClr val="172B4D"/>
                </a:solidFill>
              </a:defRPr>
            </a:lvl4pPr>
            <a:lvl5pPr>
              <a:defRPr sz="1500" b="0">
                <a:solidFill>
                  <a:srgbClr val="172B4D"/>
                </a:solidFill>
              </a:defRPr>
            </a:lvl5pPr>
            <a:lvl6pPr>
              <a:defRPr sz="1500" b="0">
                <a:solidFill>
                  <a:srgbClr val="172B4D"/>
                </a:solidFill>
              </a:defRPr>
            </a:lvl6pPr>
            <a:lvl7pPr>
              <a:defRPr sz="1500" b="0">
                <a:solidFill>
                  <a:srgbClr val="172B4D"/>
                </a:solidFill>
              </a:defRPr>
            </a:lvl7pPr>
            <a:lvl8pPr>
              <a:defRPr sz="1500" b="0">
                <a:solidFill>
                  <a:srgbClr val="172B4D"/>
                </a:solidFill>
              </a:defRPr>
            </a:lvl8pPr>
            <a:lvl9pPr>
              <a:defRPr sz="1500" b="0">
                <a:solidFill>
                  <a:srgbClr val="172B4D"/>
                </a:solidFill>
              </a:defRPr>
            </a:lvl9pPr>
          </a:lstStyle>
          <a:p xmlns:a="http://schemas.openxmlformats.org/drawingml/2006/main">
            <a:pPr>
              <a:buNone/>
              <a:defRPr sz="1500" b="0">
                <a:solidFill>
                  <a:srgbClr val="172B4D"/>
                </a:solidFill>
              </a:defRPr>
            </a:pPr>
            <a:r>
              <a:rPr sz="1500" b="0">
                <a:solidFill>
                  <a:srgbClr val="172B4D"/>
                </a:solidFill>
              </a:rPr>
              <a:t>Login</a:t>
            </a:r>
          </a:p>
          <a:p xmlns:a="http://schemas.openxmlformats.org/drawingml/2006/main">
            <a:pPr>
              <a:buNone/>
              <a:defRPr sz="1500" b="0">
                <a:solidFill>
                  <a:srgbClr val="172B4D"/>
                </a:solidFill>
              </a:defRPr>
            </a:pPr>
            <a:r>
              <a:rPr sz="1500" b="0">
                <a:solidFill>
                  <a:srgbClr val="172B4D"/>
                </a:solidFill>
              </a:rPr>
              <a:t>Validate access before the dashboard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500" b="0">
                <a:solidFill>
                  <a:srgbClr val="172B4D"/>
                </a:solidFill>
              </a:defRPr>
            </a:pPr>
            <a:r>
              <a:rPr sz="1500" b="0">
                <a:solidFill>
                  <a:srgbClr val="172B4D"/>
                </a:solidFill>
              </a:rPr>
              <a:t>Patient care</a:t>
            </a:r>
          </a:p>
          <a:p xmlns:a="http://schemas.openxmlformats.org/drawingml/2006/main">
            <a:pPr>
              <a:buNone/>
              <a:defRPr sz="1500" b="0">
                <a:solidFill>
                  <a:srgbClr val="172B4D"/>
                </a:solidFill>
              </a:defRPr>
            </a:pPr>
            <a:r>
              <a:rPr sz="1500" b="0">
                <a:solidFill>
                  <a:srgbClr val="172B4D"/>
                </a:solidFill>
              </a:rPr>
              <a:t>Schedule, check up, admit, and update notes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500" b="0">
                <a:solidFill>
                  <a:srgbClr val="172B4D"/>
                </a:solidFill>
              </a:defRPr>
            </a:pPr>
            <a:r>
              <a:rPr sz="1500" b="0">
                <a:solidFill>
                  <a:srgbClr val="172B4D"/>
                </a:solidFill>
              </a:rPr>
              <a:t>Emergency</a:t>
            </a:r>
          </a:p>
          <a:p xmlns:a="http://schemas.openxmlformats.org/drawingml/2006/main">
            <a:pPr>
              <a:buNone/>
              <a:defRPr sz="1500" b="0">
                <a:solidFill>
                  <a:srgbClr val="172B4D"/>
                </a:solidFill>
              </a:defRPr>
            </a:pPr>
            <a:r>
              <a:rPr sz="1500" b="0">
                <a:solidFill>
                  <a:srgbClr val="172B4D"/>
                </a:solidFill>
              </a:rPr>
              <a:t>Register, discharge, save, and reload active cases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935C41B-0D55-4ADD-BD1B-C71B64891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019300"/>
            <a:ext cx="3333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00A6A6"/>
                </a:solidFill>
              </a:defRPr>
            </a:defPPr>
            <a:lvl1pPr>
              <a:defRPr sz="1650" b="1">
                <a:solidFill>
                  <a:srgbClr val="00A6A6"/>
                </a:solidFill>
              </a:defRPr>
            </a:lvl1pPr>
            <a:lvl2pPr>
              <a:defRPr sz="1650" b="1">
                <a:solidFill>
                  <a:srgbClr val="00A6A6"/>
                </a:solidFill>
              </a:defRPr>
            </a:lvl2pPr>
            <a:lvl3pPr>
              <a:defRPr sz="1650" b="1">
                <a:solidFill>
                  <a:srgbClr val="00A6A6"/>
                </a:solidFill>
              </a:defRPr>
            </a:lvl3pPr>
            <a:lvl4pPr>
              <a:defRPr sz="1650" b="1">
                <a:solidFill>
                  <a:srgbClr val="00A6A6"/>
                </a:solidFill>
              </a:defRPr>
            </a:lvl4pPr>
            <a:lvl5pPr>
              <a:defRPr sz="1650" b="1">
                <a:solidFill>
                  <a:srgbClr val="00A6A6"/>
                </a:solidFill>
              </a:defRPr>
            </a:lvl5pPr>
            <a:lvl6pPr>
              <a:defRPr sz="1650" b="1">
                <a:solidFill>
                  <a:srgbClr val="00A6A6"/>
                </a:solidFill>
              </a:defRPr>
            </a:lvl6pPr>
            <a:lvl7pPr>
              <a:defRPr sz="1650" b="1">
                <a:solidFill>
                  <a:srgbClr val="00A6A6"/>
                </a:solidFill>
              </a:defRPr>
            </a:lvl7pPr>
            <a:lvl8pPr>
              <a:defRPr sz="1650" b="1">
                <a:solidFill>
                  <a:srgbClr val="00A6A6"/>
                </a:solidFill>
              </a:defRPr>
            </a:lvl8pPr>
            <a:lvl9pPr>
              <a:defRPr sz="1650" b="1">
                <a:solidFill>
                  <a:srgbClr val="00A6A6"/>
                </a:solidFill>
              </a:defRPr>
            </a:lvl9pPr>
          </a:lstStyle>
          <a:p xmlns:a="http://schemas.openxmlformats.org/drawingml/2006/main">
            <a:pPr>
              <a:buNone/>
              <a:defRPr sz="1650" b="1">
                <a:solidFill>
                  <a:srgbClr val="00A6A6"/>
                </a:solidFill>
              </a:defRPr>
            </a:pPr>
            <a:r>
              <a:rPr sz="1650" b="1">
                <a:solidFill>
                  <a:srgbClr val="00A6A6"/>
                </a:solidFill>
              </a:rPr>
              <a:t>Observed test results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B1E0BCA-4F0C-4A6A-9E23-6DB7E8E3C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476500"/>
            <a:ext cx="5048250" cy="2762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0">
                <a:solidFill>
                  <a:srgbClr val="172B4D"/>
                </a:solidFill>
              </a:defRPr>
            </a:defPPr>
            <a:lvl1pPr>
              <a:defRPr sz="1425" b="0">
                <a:solidFill>
                  <a:srgbClr val="172B4D"/>
                </a:solidFill>
              </a:defRPr>
            </a:lvl1pPr>
            <a:lvl2pPr>
              <a:defRPr sz="1425" b="0">
                <a:solidFill>
                  <a:srgbClr val="172B4D"/>
                </a:solidFill>
              </a:defRPr>
            </a:lvl2pPr>
            <a:lvl3pPr>
              <a:defRPr sz="1425" b="0">
                <a:solidFill>
                  <a:srgbClr val="172B4D"/>
                </a:solidFill>
              </a:defRPr>
            </a:lvl3pPr>
            <a:lvl4pPr>
              <a:defRPr sz="1425" b="0">
                <a:solidFill>
                  <a:srgbClr val="172B4D"/>
                </a:solidFill>
              </a:defRPr>
            </a:lvl4pPr>
            <a:lvl5pPr>
              <a:defRPr sz="1425" b="0">
                <a:solidFill>
                  <a:srgbClr val="172B4D"/>
                </a:solidFill>
              </a:defRPr>
            </a:lvl5pPr>
            <a:lvl6pPr>
              <a:defRPr sz="1425" b="0">
                <a:solidFill>
                  <a:srgbClr val="172B4D"/>
                </a:solidFill>
              </a:defRPr>
            </a:lvl6pPr>
            <a:lvl7pPr>
              <a:defRPr sz="1425" b="0">
                <a:solidFill>
                  <a:srgbClr val="172B4D"/>
                </a:solidFill>
              </a:defRPr>
            </a:lvl7pPr>
            <a:lvl8pPr>
              <a:defRPr sz="1425" b="0">
                <a:solidFill>
                  <a:srgbClr val="172B4D"/>
                </a:solidFill>
              </a:defRPr>
            </a:lvl8pPr>
            <a:lvl9pPr>
              <a:defRPr sz="1425" b="0">
                <a:solidFill>
                  <a:srgbClr val="172B4D"/>
                </a:solidFill>
              </a:defRPr>
            </a:lvl9pPr>
          </a:lstStyle>
          <a:p xmlns:a="http://schemas.openxmlformats.org/drawingml/2006/main">
            <a:pPr>
              <a:buNone/>
              <a:defRPr sz="1425" b="0">
                <a:solidFill>
                  <a:srgbClr val="172B4D"/>
                </a:solidFill>
              </a:defRPr>
            </a:pPr>
            <a:r>
              <a:rPr sz="1425" b="0">
                <a:solidFill>
                  <a:srgbClr val="172B4D"/>
                </a:solidFill>
              </a:rPr>
              <a:t>• Invalid numeric input and blank feedback rejected</a:t>
            </a:r>
          </a:p>
          <a:p xmlns:a="http://schemas.openxmlformats.org/drawingml/2006/main">
            <a:pPr>
              <a:buNone/>
              <a:defRPr sz="1425" b="0">
                <a:solidFill>
                  <a:srgbClr val="172B4D"/>
                </a:solidFill>
              </a:defRPr>
            </a:pPr>
            <a:r>
              <a:rPr sz="1425" b="0">
                <a:solidFill>
                  <a:srgbClr val="172B4D"/>
                </a:solidFill>
              </a:rPr>
              <a:t>• Duplicate active IDs rejected</a:t>
            </a:r>
          </a:p>
          <a:p xmlns:a="http://schemas.openxmlformats.org/drawingml/2006/main">
            <a:pPr>
              <a:buNone/>
              <a:defRPr sz="1425" b="0">
                <a:solidFill>
                  <a:srgbClr val="172B4D"/>
                </a:solidFill>
              </a:defRPr>
            </a:pPr>
            <a:r>
              <a:rPr sz="1425" b="0">
                <a:solidFill>
                  <a:srgbClr val="172B4D"/>
                </a:solidFill>
              </a:rPr>
              <a:t>• Staff add, list, and delete completed</a:t>
            </a:r>
          </a:p>
          <a:p xmlns:a="http://schemas.openxmlformats.org/drawingml/2006/main">
            <a:pPr>
              <a:buNone/>
              <a:defRPr sz="1425" b="0">
                <a:solidFill>
                  <a:srgbClr val="172B4D"/>
                </a:solidFill>
              </a:defRPr>
            </a:pPr>
            <a:r>
              <a:rPr sz="1425" b="0">
                <a:solidFill>
                  <a:srgbClr val="172B4D"/>
                </a:solidFill>
              </a:rPr>
              <a:t>• Emergency stack order retained after restart</a:t>
            </a:r>
          </a:p>
          <a:p xmlns:a="http://schemas.openxmlformats.org/drawingml/2006/main">
            <a:pPr>
              <a:buNone/>
              <a:defRPr sz="1425" b="0">
                <a:solidFill>
                  <a:srgbClr val="172B4D"/>
                </a:solidFill>
              </a:defRPr>
            </a:pPr>
            <a:r>
              <a:rPr sz="1425" b="0">
                <a:solidFill>
                  <a:srgbClr val="172B4D"/>
                </a:solidFill>
              </a:rPr>
              <a:t>• Navigation: Entrance to ICU = 60 m</a:t>
            </a:r>
          </a:p>
          <a:p xmlns:a="http://schemas.openxmlformats.org/drawingml/2006/main">
            <a:pPr>
              <a:buNone/>
              <a:defRPr sz="1425" b="0">
                <a:solidFill>
                  <a:srgbClr val="172B4D"/>
                </a:solidFill>
              </a:defRPr>
            </a:pPr>
            <a:r>
              <a:rPr sz="1425" b="0">
                <a:solidFill>
                  <a:srgbClr val="172B4D"/>
                </a:solidFill>
              </a:rPr>
              <a:t>• Prefix search: car returns Cardiology</a:t>
            </a:r>
          </a:p>
          <a:p xmlns:a="http://schemas.openxmlformats.org/drawingml/2006/main">
            <a:pPr>
              <a:buNone/>
              <a:defRPr sz="1425" b="0">
                <a:solidFill>
                  <a:srgbClr val="172B4D"/>
                </a:solidFill>
              </a:defRPr>
            </a:pPr>
            <a:r>
              <a:rPr sz="1425" b="0">
                <a:solidFill>
                  <a:srgbClr val="172B4D"/>
                </a:solidFill>
              </a:rPr>
              <a:t>• Password change persisted across restart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85F9043-86C2-4608-9348-BE1F4E609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753100"/>
            <a:ext cx="952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2606D"/>
                </a:solidFill>
              </a:defRPr>
            </a:defPPr>
            <a:lvl1pPr>
              <a:defRPr sz="1200" b="0">
                <a:solidFill>
                  <a:srgbClr val="52606D"/>
                </a:solidFill>
              </a:defRPr>
            </a:lvl1pPr>
            <a:lvl2pPr>
              <a:defRPr sz="1200" b="0">
                <a:solidFill>
                  <a:srgbClr val="52606D"/>
                </a:solidFill>
              </a:defRPr>
            </a:lvl2pPr>
            <a:lvl3pPr>
              <a:defRPr sz="1200" b="0">
                <a:solidFill>
                  <a:srgbClr val="52606D"/>
                </a:solidFill>
              </a:defRPr>
            </a:lvl3pPr>
            <a:lvl4pPr>
              <a:defRPr sz="1200" b="0">
                <a:solidFill>
                  <a:srgbClr val="52606D"/>
                </a:solidFill>
              </a:defRPr>
            </a:lvl4pPr>
            <a:lvl5pPr>
              <a:defRPr sz="1200" b="0">
                <a:solidFill>
                  <a:srgbClr val="52606D"/>
                </a:solidFill>
              </a:defRPr>
            </a:lvl5pPr>
            <a:lvl6pPr>
              <a:defRPr sz="1200" b="0">
                <a:solidFill>
                  <a:srgbClr val="52606D"/>
                </a:solidFill>
              </a:defRPr>
            </a:lvl6pPr>
            <a:lvl7pPr>
              <a:defRPr sz="1200" b="0">
                <a:solidFill>
                  <a:srgbClr val="52606D"/>
                </a:solidFill>
              </a:defRPr>
            </a:lvl7pPr>
            <a:lvl8pPr>
              <a:defRPr sz="1200" b="0">
                <a:solidFill>
                  <a:srgbClr val="52606D"/>
                </a:solidFill>
              </a:defRPr>
            </a:lvl8pPr>
            <a:lvl9pPr>
              <a:defRPr sz="1200" b="0">
                <a:solidFill>
                  <a:srgbClr val="52606D"/>
                </a:solidFill>
              </a:defRPr>
            </a:lvl9pPr>
          </a:lstStyle>
          <a:p xmlns:a="http://schemas.openxmlformats.org/drawingml/2006/main">
            <a:pPr>
              <a:buNone/>
              <a:defRPr sz="1200" b="0">
                <a:solidFill>
                  <a:srgbClr val="52606D"/>
                </a:solidFill>
              </a:defRPr>
            </a:pPr>
            <a:r>
              <a:rPr sz="1200" b="0">
                <a:solidFill>
                  <a:srgbClr val="52606D"/>
                </a:solidFill>
              </a:rPr>
              <a:t>All test records were fictional.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BD6BEFF-9099-4351-8599-439794DC5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419850"/>
            <a:ext cx="666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0">
                <a:solidFill>
                  <a:srgbClr val="52606D"/>
                </a:solidFill>
              </a:defRPr>
            </a:defPPr>
            <a:lvl1pPr>
              <a:defRPr sz="900" b="0">
                <a:solidFill>
                  <a:srgbClr val="52606D"/>
                </a:solidFill>
              </a:defRPr>
            </a:lvl1pPr>
            <a:lvl2pPr>
              <a:defRPr sz="900" b="0">
                <a:solidFill>
                  <a:srgbClr val="52606D"/>
                </a:solidFill>
              </a:defRPr>
            </a:lvl2pPr>
            <a:lvl3pPr>
              <a:defRPr sz="900" b="0">
                <a:solidFill>
                  <a:srgbClr val="52606D"/>
                </a:solidFill>
              </a:defRPr>
            </a:lvl3pPr>
            <a:lvl4pPr>
              <a:defRPr sz="900" b="0">
                <a:solidFill>
                  <a:srgbClr val="52606D"/>
                </a:solidFill>
              </a:defRPr>
            </a:lvl4pPr>
            <a:lvl5pPr>
              <a:defRPr sz="900" b="0">
                <a:solidFill>
                  <a:srgbClr val="52606D"/>
                </a:solidFill>
              </a:defRPr>
            </a:lvl5pPr>
            <a:lvl6pPr>
              <a:defRPr sz="900" b="0">
                <a:solidFill>
                  <a:srgbClr val="52606D"/>
                </a:solidFill>
              </a:defRPr>
            </a:lvl6pPr>
            <a:lvl7pPr>
              <a:defRPr sz="900" b="0">
                <a:solidFill>
                  <a:srgbClr val="52606D"/>
                </a:solidFill>
              </a:defRPr>
            </a:lvl7pPr>
            <a:lvl8pPr>
              <a:defRPr sz="900" b="0">
                <a:solidFill>
                  <a:srgbClr val="52606D"/>
                </a:solidFill>
              </a:defRPr>
            </a:lvl8pPr>
            <a:lvl9pPr>
              <a:defRPr sz="900" b="0">
                <a:solidFill>
                  <a:srgbClr val="52606D"/>
                </a:solidFill>
              </a:defRPr>
            </a:lvl9pPr>
          </a:lstStyle>
          <a:p xmlns:a="http://schemas.openxmlformats.org/drawingml/2006/main">
            <a:pPr>
              <a:buNone/>
              <a:defRPr sz="900" b="0">
                <a:solidFill>
                  <a:srgbClr val="52606D"/>
                </a:solidFill>
              </a:defRPr>
            </a:pPr>
            <a:r>
              <a:rPr sz="900" b="0">
                <a:solidFill>
                  <a:srgbClr val="52606D"/>
                </a:solidFill>
              </a:rPr>
              <a:t>Hospital Management System | C++17 DSA Project</a:t>
            </a:r>
          </a:p>
        </p:txBody>
      </p:sp>
    </p:spTree>
    <p:extLst>
      <p:ext uri="{BB962C8B-B14F-4D97-AF65-F5344CB8AC3E}">
        <p14:creationId xmlns:p14="http://schemas.microsoft.com/office/powerpoint/2010/main" val="34141523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E8C29C0-6180-42A5-BD38-F19C02794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AB52484-FB93-4B41-BE32-F384C3E47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95300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00A6A6"/>
                </a:solidFill>
              </a:defRPr>
            </a:defPPr>
            <a:lvl1pPr>
              <a:defRPr sz="1200" b="1">
                <a:solidFill>
                  <a:srgbClr val="00A6A6"/>
                </a:solidFill>
              </a:defRPr>
            </a:lvl1pPr>
            <a:lvl2pPr>
              <a:defRPr sz="1200" b="1">
                <a:solidFill>
                  <a:srgbClr val="00A6A6"/>
                </a:solidFill>
              </a:defRPr>
            </a:lvl2pPr>
            <a:lvl3pPr>
              <a:defRPr sz="1200" b="1">
                <a:solidFill>
                  <a:srgbClr val="00A6A6"/>
                </a:solidFill>
              </a:defRPr>
            </a:lvl3pPr>
            <a:lvl4pPr>
              <a:defRPr sz="1200" b="1">
                <a:solidFill>
                  <a:srgbClr val="00A6A6"/>
                </a:solidFill>
              </a:defRPr>
            </a:lvl4pPr>
            <a:lvl5pPr>
              <a:defRPr sz="1200" b="1">
                <a:solidFill>
                  <a:srgbClr val="00A6A6"/>
                </a:solidFill>
              </a:defRPr>
            </a:lvl5pPr>
            <a:lvl6pPr>
              <a:defRPr sz="1200" b="1">
                <a:solidFill>
                  <a:srgbClr val="00A6A6"/>
                </a:solidFill>
              </a:defRPr>
            </a:lvl6pPr>
            <a:lvl7pPr>
              <a:defRPr sz="1200" b="1">
                <a:solidFill>
                  <a:srgbClr val="00A6A6"/>
                </a:solidFill>
              </a:defRPr>
            </a:lvl7pPr>
            <a:lvl8pPr>
              <a:defRPr sz="1200" b="1">
                <a:solidFill>
                  <a:srgbClr val="00A6A6"/>
                </a:solidFill>
              </a:defRPr>
            </a:lvl8pPr>
            <a:lvl9pPr>
              <a:defRPr sz="1200" b="1">
                <a:solidFill>
                  <a:srgbClr val="00A6A6"/>
                </a:solidFill>
              </a:defRPr>
            </a:lvl9pPr>
          </a:lstStyle>
          <a:p xmlns:a="http://schemas.openxmlformats.org/drawingml/2006/main">
            <a:pPr>
              <a:buNone/>
              <a:defRPr sz="1200" b="1">
                <a:solidFill>
                  <a:srgbClr val="00A6A6"/>
                </a:solidFill>
              </a:defRPr>
            </a:pPr>
            <a:r>
              <a:rPr sz="1200" b="1">
                <a:solidFill>
                  <a:srgbClr val="00A6A6"/>
                </a:solidFill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AE9A116-AF8F-4C47-B36B-43B824800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876300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102A43"/>
                </a:solidFill>
              </a:defRPr>
            </a:defPPr>
            <a:lvl1pPr>
              <a:defRPr sz="2700" b="1">
                <a:solidFill>
                  <a:srgbClr val="102A43"/>
                </a:solidFill>
              </a:defRPr>
            </a:lvl1pPr>
            <a:lvl2pPr>
              <a:defRPr sz="2700" b="1">
                <a:solidFill>
                  <a:srgbClr val="102A43"/>
                </a:solidFill>
              </a:defRPr>
            </a:lvl2pPr>
            <a:lvl3pPr>
              <a:defRPr sz="2700" b="1">
                <a:solidFill>
                  <a:srgbClr val="102A43"/>
                </a:solidFill>
              </a:defRPr>
            </a:lvl3pPr>
            <a:lvl4pPr>
              <a:defRPr sz="2700" b="1">
                <a:solidFill>
                  <a:srgbClr val="102A43"/>
                </a:solidFill>
              </a:defRPr>
            </a:lvl4pPr>
            <a:lvl5pPr>
              <a:defRPr sz="2700" b="1">
                <a:solidFill>
                  <a:srgbClr val="102A43"/>
                </a:solidFill>
              </a:defRPr>
            </a:lvl5pPr>
            <a:lvl6pPr>
              <a:defRPr sz="2700" b="1">
                <a:solidFill>
                  <a:srgbClr val="102A43"/>
                </a:solidFill>
              </a:defRPr>
            </a:lvl6pPr>
            <a:lvl7pPr>
              <a:defRPr sz="2700" b="1">
                <a:solidFill>
                  <a:srgbClr val="102A43"/>
                </a:solidFill>
              </a:defRPr>
            </a:lvl7pPr>
            <a:lvl8pPr>
              <a:defRPr sz="2700" b="1">
                <a:solidFill>
                  <a:srgbClr val="102A43"/>
                </a:solidFill>
              </a:defRPr>
            </a:lvl8pPr>
            <a:lvl9pPr>
              <a:defRPr sz="2700" b="1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>
              <a:buNone/>
              <a:defRPr sz="2700" b="1">
                <a:solidFill>
                  <a:srgbClr val="102A43"/>
                </a:solidFill>
              </a:defRPr>
            </a:pPr>
            <a:r>
              <a:rPr sz="2700" b="1">
                <a:solidFill>
                  <a:srgbClr val="102A43"/>
                </a:solidFill>
              </a:rPr>
              <a:t>Team roles, limitations, and next steps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AC31279-9E49-4092-84FE-76FF7AF66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71625"/>
            <a:ext cx="10782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5D8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2C1FA6D-EAF8-4860-965C-55601A08D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019300"/>
            <a:ext cx="3524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00A6A6"/>
                </a:solidFill>
              </a:defRPr>
            </a:defPPr>
            <a:lvl1pPr>
              <a:defRPr sz="1650" b="1">
                <a:solidFill>
                  <a:srgbClr val="00A6A6"/>
                </a:solidFill>
              </a:defRPr>
            </a:lvl1pPr>
            <a:lvl2pPr>
              <a:defRPr sz="1650" b="1">
                <a:solidFill>
                  <a:srgbClr val="00A6A6"/>
                </a:solidFill>
              </a:defRPr>
            </a:lvl2pPr>
            <a:lvl3pPr>
              <a:defRPr sz="1650" b="1">
                <a:solidFill>
                  <a:srgbClr val="00A6A6"/>
                </a:solidFill>
              </a:defRPr>
            </a:lvl3pPr>
            <a:lvl4pPr>
              <a:defRPr sz="1650" b="1">
                <a:solidFill>
                  <a:srgbClr val="00A6A6"/>
                </a:solidFill>
              </a:defRPr>
            </a:lvl4pPr>
            <a:lvl5pPr>
              <a:defRPr sz="1650" b="1">
                <a:solidFill>
                  <a:srgbClr val="00A6A6"/>
                </a:solidFill>
              </a:defRPr>
            </a:lvl5pPr>
            <a:lvl6pPr>
              <a:defRPr sz="1650" b="1">
                <a:solidFill>
                  <a:srgbClr val="00A6A6"/>
                </a:solidFill>
              </a:defRPr>
            </a:lvl6pPr>
            <a:lvl7pPr>
              <a:defRPr sz="1650" b="1">
                <a:solidFill>
                  <a:srgbClr val="00A6A6"/>
                </a:solidFill>
              </a:defRPr>
            </a:lvl7pPr>
            <a:lvl8pPr>
              <a:defRPr sz="1650" b="1">
                <a:solidFill>
                  <a:srgbClr val="00A6A6"/>
                </a:solidFill>
              </a:defRPr>
            </a:lvl8pPr>
            <a:lvl9pPr>
              <a:defRPr sz="1650" b="1">
                <a:solidFill>
                  <a:srgbClr val="00A6A6"/>
                </a:solidFill>
              </a:defRPr>
            </a:lvl9pPr>
          </a:lstStyle>
          <a:p xmlns:a="http://schemas.openxmlformats.org/drawingml/2006/main">
            <a:pPr>
              <a:buNone/>
              <a:defRPr sz="1650" b="1">
                <a:solidFill>
                  <a:srgbClr val="00A6A6"/>
                </a:solidFill>
              </a:defRPr>
            </a:pPr>
            <a:r>
              <a:rPr sz="1650" b="1">
                <a:solidFill>
                  <a:srgbClr val="00A6A6"/>
                </a:solidFill>
              </a:rPr>
              <a:t>Suggested speaking ownership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77D6507-65E8-4662-9375-E036AB8EC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476500"/>
            <a:ext cx="5095875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172B4D"/>
                </a:solidFill>
              </a:defRPr>
            </a:defPPr>
            <a:lvl1pPr>
              <a:defRPr sz="1500" b="0">
                <a:solidFill>
                  <a:srgbClr val="172B4D"/>
                </a:solidFill>
              </a:defRPr>
            </a:lvl1pPr>
            <a:lvl2pPr>
              <a:defRPr sz="1500" b="0">
                <a:solidFill>
                  <a:srgbClr val="172B4D"/>
                </a:solidFill>
              </a:defRPr>
            </a:lvl2pPr>
            <a:lvl3pPr>
              <a:defRPr sz="1500" b="0">
                <a:solidFill>
                  <a:srgbClr val="172B4D"/>
                </a:solidFill>
              </a:defRPr>
            </a:lvl3pPr>
            <a:lvl4pPr>
              <a:defRPr sz="1500" b="0">
                <a:solidFill>
                  <a:srgbClr val="172B4D"/>
                </a:solidFill>
              </a:defRPr>
            </a:lvl4pPr>
            <a:lvl5pPr>
              <a:defRPr sz="1500" b="0">
                <a:solidFill>
                  <a:srgbClr val="172B4D"/>
                </a:solidFill>
              </a:defRPr>
            </a:lvl5pPr>
            <a:lvl6pPr>
              <a:defRPr sz="1500" b="0">
                <a:solidFill>
                  <a:srgbClr val="172B4D"/>
                </a:solidFill>
              </a:defRPr>
            </a:lvl6pPr>
            <a:lvl7pPr>
              <a:defRPr sz="1500" b="0">
                <a:solidFill>
                  <a:srgbClr val="172B4D"/>
                </a:solidFill>
              </a:defRPr>
            </a:lvl7pPr>
            <a:lvl8pPr>
              <a:defRPr sz="1500" b="0">
                <a:solidFill>
                  <a:srgbClr val="172B4D"/>
                </a:solidFill>
              </a:defRPr>
            </a:lvl8pPr>
            <a:lvl9pPr>
              <a:defRPr sz="1500" b="0">
                <a:solidFill>
                  <a:srgbClr val="172B4D"/>
                </a:solidFill>
              </a:defRPr>
            </a:lvl9pPr>
          </a:lstStyle>
          <a:p xmlns:a="http://schemas.openxmlformats.org/drawingml/2006/main">
            <a:pPr>
              <a:buNone/>
              <a:defRPr sz="1500" b="0">
                <a:solidFill>
                  <a:srgbClr val="172B4D"/>
                </a:solidFill>
              </a:defRPr>
            </a:pPr>
            <a:r>
              <a:rPr sz="1500" b="0">
                <a:solidFill>
                  <a:srgbClr val="172B4D"/>
                </a:solidFill>
              </a:rPr>
              <a:t>Member 1: Integration, UI, login, validation</a:t>
            </a:r>
          </a:p>
          <a:p xmlns:a="http://schemas.openxmlformats.org/drawingml/2006/main">
            <a:pPr>
              <a:buNone/>
              <a:defRPr sz="1500" b="0">
                <a:solidFill>
                  <a:srgbClr val="172B4D"/>
                </a:solidFill>
              </a:defRPr>
            </a:pPr>
            <a:r>
              <a:rPr sz="1500" b="0">
                <a:solidFill>
                  <a:srgbClr val="172B4D"/>
                </a:solidFill>
              </a:rPr>
              <a:t>Member 2: Staff directory and patient care</a:t>
            </a:r>
          </a:p>
          <a:p xmlns:a="http://schemas.openxmlformats.org/drawingml/2006/main">
            <a:pPr>
              <a:buNone/>
              <a:defRPr sz="1500" b="0">
                <a:solidFill>
                  <a:srgbClr val="172B4D"/>
                </a:solidFill>
              </a:defRPr>
            </a:pPr>
            <a:r>
              <a:rPr sz="1500" b="0">
                <a:solidFill>
                  <a:srgbClr val="172B4D"/>
                </a:solidFill>
              </a:rPr>
              <a:t>Member 3: Emergency, navigation, search, testing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5FA17CA-ADA1-479D-9B22-89D2C8D33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400550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00A6A6"/>
                </a:solidFill>
              </a:defRPr>
            </a:defPPr>
            <a:lvl1pPr>
              <a:defRPr sz="1650" b="1">
                <a:solidFill>
                  <a:srgbClr val="00A6A6"/>
                </a:solidFill>
              </a:defRPr>
            </a:lvl1pPr>
            <a:lvl2pPr>
              <a:defRPr sz="1650" b="1">
                <a:solidFill>
                  <a:srgbClr val="00A6A6"/>
                </a:solidFill>
              </a:defRPr>
            </a:lvl2pPr>
            <a:lvl3pPr>
              <a:defRPr sz="1650" b="1">
                <a:solidFill>
                  <a:srgbClr val="00A6A6"/>
                </a:solidFill>
              </a:defRPr>
            </a:lvl3pPr>
            <a:lvl4pPr>
              <a:defRPr sz="1650" b="1">
                <a:solidFill>
                  <a:srgbClr val="00A6A6"/>
                </a:solidFill>
              </a:defRPr>
            </a:lvl4pPr>
            <a:lvl5pPr>
              <a:defRPr sz="1650" b="1">
                <a:solidFill>
                  <a:srgbClr val="00A6A6"/>
                </a:solidFill>
              </a:defRPr>
            </a:lvl5pPr>
            <a:lvl6pPr>
              <a:defRPr sz="1650" b="1">
                <a:solidFill>
                  <a:srgbClr val="00A6A6"/>
                </a:solidFill>
              </a:defRPr>
            </a:lvl6pPr>
            <a:lvl7pPr>
              <a:defRPr sz="1650" b="1">
                <a:solidFill>
                  <a:srgbClr val="00A6A6"/>
                </a:solidFill>
              </a:defRPr>
            </a:lvl7pPr>
            <a:lvl8pPr>
              <a:defRPr sz="1650" b="1">
                <a:solidFill>
                  <a:srgbClr val="00A6A6"/>
                </a:solidFill>
              </a:defRPr>
            </a:lvl8pPr>
            <a:lvl9pPr>
              <a:defRPr sz="1650" b="1">
                <a:solidFill>
                  <a:srgbClr val="00A6A6"/>
                </a:solidFill>
              </a:defRPr>
            </a:lvl9pPr>
          </a:lstStyle>
          <a:p xmlns:a="http://schemas.openxmlformats.org/drawingml/2006/main">
            <a:pPr>
              <a:buNone/>
              <a:defRPr sz="1650" b="1">
                <a:solidFill>
                  <a:srgbClr val="00A6A6"/>
                </a:solidFill>
              </a:defRPr>
            </a:pPr>
            <a:r>
              <a:rPr sz="1650" b="1">
                <a:solidFill>
                  <a:srgbClr val="00A6A6"/>
                </a:solidFill>
              </a:rPr>
              <a:t>Current limitations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5FDCABD-F67A-484F-8ECB-8A8BC69B4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857750"/>
            <a:ext cx="5048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0">
                <a:solidFill>
                  <a:srgbClr val="52606D"/>
                </a:solidFill>
              </a:defRPr>
            </a:defPPr>
            <a:lvl1pPr>
              <a:defRPr sz="1425" b="0">
                <a:solidFill>
                  <a:srgbClr val="52606D"/>
                </a:solidFill>
              </a:defRPr>
            </a:lvl1pPr>
            <a:lvl2pPr>
              <a:defRPr sz="1425" b="0">
                <a:solidFill>
                  <a:srgbClr val="52606D"/>
                </a:solidFill>
              </a:defRPr>
            </a:lvl2pPr>
            <a:lvl3pPr>
              <a:defRPr sz="1425" b="0">
                <a:solidFill>
                  <a:srgbClr val="52606D"/>
                </a:solidFill>
              </a:defRPr>
            </a:lvl3pPr>
            <a:lvl4pPr>
              <a:defRPr sz="1425" b="0">
                <a:solidFill>
                  <a:srgbClr val="52606D"/>
                </a:solidFill>
              </a:defRPr>
            </a:lvl4pPr>
            <a:lvl5pPr>
              <a:defRPr sz="1425" b="0">
                <a:solidFill>
                  <a:srgbClr val="52606D"/>
                </a:solidFill>
              </a:defRPr>
            </a:lvl5pPr>
            <a:lvl6pPr>
              <a:defRPr sz="1425" b="0">
                <a:solidFill>
                  <a:srgbClr val="52606D"/>
                </a:solidFill>
              </a:defRPr>
            </a:lvl6pPr>
            <a:lvl7pPr>
              <a:defRPr sz="1425" b="0">
                <a:solidFill>
                  <a:srgbClr val="52606D"/>
                </a:solidFill>
              </a:defRPr>
            </a:lvl7pPr>
            <a:lvl8pPr>
              <a:defRPr sz="1425" b="0">
                <a:solidFill>
                  <a:srgbClr val="52606D"/>
                </a:solidFill>
              </a:defRPr>
            </a:lvl8pPr>
            <a:lvl9pPr>
              <a:defRPr sz="1425" b="0">
                <a:solidFill>
                  <a:srgbClr val="52606D"/>
                </a:solidFill>
              </a:defRPr>
            </a:lvl9pPr>
          </a:lstStyle>
          <a:p xmlns:a="http://schemas.openxmlformats.org/drawingml/2006/main">
            <a:pPr>
              <a:buNone/>
              <a:defRPr sz="1425" b="0">
                <a:solidFill>
                  <a:srgbClr val="52606D"/>
                </a:solidFill>
              </a:defRPr>
            </a:pPr>
            <a:r>
              <a:rPr sz="1425" b="0">
                <a:solidFill>
                  <a:srgbClr val="52606D"/>
                </a:solidFill>
              </a:rPr>
              <a:t>Plain-text demo password, CSV storage, in-session viewing history, and fixed initial search terms.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BD0C23B-7066-4AC7-8CD0-13BEAA4B1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1981200"/>
            <a:ext cx="1905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5D8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EF16F8E-6AD8-48AD-8970-C1D511663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019300"/>
            <a:ext cx="304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00A6A6"/>
                </a:solidFill>
              </a:defRPr>
            </a:defPPr>
            <a:lvl1pPr>
              <a:defRPr sz="1650" b="1">
                <a:solidFill>
                  <a:srgbClr val="00A6A6"/>
                </a:solidFill>
              </a:defRPr>
            </a:lvl1pPr>
            <a:lvl2pPr>
              <a:defRPr sz="1650" b="1">
                <a:solidFill>
                  <a:srgbClr val="00A6A6"/>
                </a:solidFill>
              </a:defRPr>
            </a:lvl2pPr>
            <a:lvl3pPr>
              <a:defRPr sz="1650" b="1">
                <a:solidFill>
                  <a:srgbClr val="00A6A6"/>
                </a:solidFill>
              </a:defRPr>
            </a:lvl3pPr>
            <a:lvl4pPr>
              <a:defRPr sz="1650" b="1">
                <a:solidFill>
                  <a:srgbClr val="00A6A6"/>
                </a:solidFill>
              </a:defRPr>
            </a:lvl4pPr>
            <a:lvl5pPr>
              <a:defRPr sz="1650" b="1">
                <a:solidFill>
                  <a:srgbClr val="00A6A6"/>
                </a:solidFill>
              </a:defRPr>
            </a:lvl5pPr>
            <a:lvl6pPr>
              <a:defRPr sz="1650" b="1">
                <a:solidFill>
                  <a:srgbClr val="00A6A6"/>
                </a:solidFill>
              </a:defRPr>
            </a:lvl6pPr>
            <a:lvl7pPr>
              <a:defRPr sz="1650" b="1">
                <a:solidFill>
                  <a:srgbClr val="00A6A6"/>
                </a:solidFill>
              </a:defRPr>
            </a:lvl7pPr>
            <a:lvl8pPr>
              <a:defRPr sz="1650" b="1">
                <a:solidFill>
                  <a:srgbClr val="00A6A6"/>
                </a:solidFill>
              </a:defRPr>
            </a:lvl8pPr>
            <a:lvl9pPr>
              <a:defRPr sz="1650" b="1">
                <a:solidFill>
                  <a:srgbClr val="00A6A6"/>
                </a:solidFill>
              </a:defRPr>
            </a:lvl9pPr>
          </a:lstStyle>
          <a:p xmlns:a="http://schemas.openxmlformats.org/drawingml/2006/main">
            <a:pPr>
              <a:buNone/>
              <a:defRPr sz="1650" b="1">
                <a:solidFill>
                  <a:srgbClr val="00A6A6"/>
                </a:solidFill>
              </a:defRPr>
            </a:pPr>
            <a:r>
              <a:rPr sz="1650" b="1">
                <a:solidFill>
                  <a:srgbClr val="00A6A6"/>
                </a:solidFill>
              </a:rPr>
              <a:t>Next improvements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7C49DCC-A653-4477-B4E6-C1AEA4DD0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552700"/>
            <a:ext cx="32385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172B4D"/>
                </a:solidFill>
              </a:defRPr>
            </a:defPPr>
            <a:lvl1pPr>
              <a:defRPr sz="1650" b="0">
                <a:solidFill>
                  <a:srgbClr val="172B4D"/>
                </a:solidFill>
              </a:defRPr>
            </a:lvl1pPr>
            <a:lvl2pPr>
              <a:defRPr sz="1650" b="0">
                <a:solidFill>
                  <a:srgbClr val="172B4D"/>
                </a:solidFill>
              </a:defRPr>
            </a:lvl2pPr>
            <a:lvl3pPr>
              <a:defRPr sz="1650" b="0">
                <a:solidFill>
                  <a:srgbClr val="172B4D"/>
                </a:solidFill>
              </a:defRPr>
            </a:lvl3pPr>
            <a:lvl4pPr>
              <a:defRPr sz="1650" b="0">
                <a:solidFill>
                  <a:srgbClr val="172B4D"/>
                </a:solidFill>
              </a:defRPr>
            </a:lvl4pPr>
            <a:lvl5pPr>
              <a:defRPr sz="1650" b="0">
                <a:solidFill>
                  <a:srgbClr val="172B4D"/>
                </a:solidFill>
              </a:defRPr>
            </a:lvl5pPr>
            <a:lvl6pPr>
              <a:defRPr sz="1650" b="0">
                <a:solidFill>
                  <a:srgbClr val="172B4D"/>
                </a:solidFill>
              </a:defRPr>
            </a:lvl6pPr>
            <a:lvl7pPr>
              <a:defRPr sz="1650" b="0">
                <a:solidFill>
                  <a:srgbClr val="172B4D"/>
                </a:solidFill>
              </a:defRPr>
            </a:lvl7pPr>
            <a:lvl8pPr>
              <a:defRPr sz="1650" b="0">
                <a:solidFill>
                  <a:srgbClr val="172B4D"/>
                </a:solidFill>
              </a:defRPr>
            </a:lvl8pPr>
            <a:lvl9pPr>
              <a:defRPr sz="1650" b="0">
                <a:solidFill>
                  <a:srgbClr val="172B4D"/>
                </a:solidFill>
              </a:defRPr>
            </a:lvl9pPr>
          </a:lstStyle>
          <a:p xmlns:a="http://schemas.openxmlformats.org/drawingml/2006/main">
            <a:pPr>
              <a:buNone/>
              <a:defRPr sz="1650" b="0">
                <a:solidFill>
                  <a:srgbClr val="172B4D"/>
                </a:solidFill>
              </a:defRPr>
            </a:pPr>
            <a:r>
              <a:rPr sz="1650" b="0">
                <a:solidFill>
                  <a:srgbClr val="172B4D"/>
                </a:solidFill>
              </a:rPr>
              <a:t>Database persistence</a:t>
            </a:r>
          </a:p>
          <a:p xmlns:a="http://schemas.openxmlformats.org/drawingml/2006/main">
            <a:pPr>
              <a:buNone/>
              <a:defRPr sz="1650" b="0">
                <a:solidFill>
                  <a:srgbClr val="172B4D"/>
                </a:solidFill>
              </a:defRPr>
            </a:pPr>
            <a:r>
              <a:rPr sz="1650" b="0">
                <a:solidFill>
                  <a:srgbClr val="172B4D"/>
                </a:solidFill>
              </a:rPr>
              <a:t>Role-based access</a:t>
            </a:r>
          </a:p>
          <a:p xmlns:a="http://schemas.openxmlformats.org/drawingml/2006/main">
            <a:pPr>
              <a:buNone/>
              <a:defRPr sz="1650" b="0">
                <a:solidFill>
                  <a:srgbClr val="172B4D"/>
                </a:solidFill>
              </a:defRPr>
            </a:pPr>
            <a:r>
              <a:rPr sz="1650" b="0">
                <a:solidFill>
                  <a:srgbClr val="172B4D"/>
                </a:solidFill>
              </a:rPr>
              <a:t>Automatic search updates</a:t>
            </a:r>
          </a:p>
          <a:p xmlns:a="http://schemas.openxmlformats.org/drawingml/2006/main">
            <a:pPr>
              <a:buNone/>
              <a:defRPr sz="1650" b="0">
                <a:solidFill>
                  <a:srgbClr val="172B4D"/>
                </a:solidFill>
              </a:defRPr>
            </a:pPr>
            <a:r>
              <a:rPr sz="1650" b="0">
                <a:solidFill>
                  <a:srgbClr val="172B4D"/>
                </a:solidFill>
              </a:rPr>
              <a:t>Automated unit tests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9071939-EA4F-44C8-932C-B99755711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5000625"/>
            <a:ext cx="39528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52606D"/>
                </a:solidFill>
              </a:defRPr>
            </a:defPPr>
            <a:lvl1pPr>
              <a:defRPr sz="1125" b="0">
                <a:solidFill>
                  <a:srgbClr val="52606D"/>
                </a:solidFill>
              </a:defRPr>
            </a:lvl1pPr>
            <a:lvl2pPr>
              <a:defRPr sz="1125" b="0">
                <a:solidFill>
                  <a:srgbClr val="52606D"/>
                </a:solidFill>
              </a:defRPr>
            </a:lvl2pPr>
            <a:lvl3pPr>
              <a:defRPr sz="1125" b="0">
                <a:solidFill>
                  <a:srgbClr val="52606D"/>
                </a:solidFill>
              </a:defRPr>
            </a:lvl3pPr>
            <a:lvl4pPr>
              <a:defRPr sz="1125" b="0">
                <a:solidFill>
                  <a:srgbClr val="52606D"/>
                </a:solidFill>
              </a:defRPr>
            </a:lvl4pPr>
            <a:lvl5pPr>
              <a:defRPr sz="1125" b="0">
                <a:solidFill>
                  <a:srgbClr val="52606D"/>
                </a:solidFill>
              </a:defRPr>
            </a:lvl5pPr>
            <a:lvl6pPr>
              <a:defRPr sz="1125" b="0">
                <a:solidFill>
                  <a:srgbClr val="52606D"/>
                </a:solidFill>
              </a:defRPr>
            </a:lvl6pPr>
            <a:lvl7pPr>
              <a:defRPr sz="1125" b="0">
                <a:solidFill>
                  <a:srgbClr val="52606D"/>
                </a:solidFill>
              </a:defRPr>
            </a:lvl7pPr>
            <a:lvl8pPr>
              <a:defRPr sz="1125" b="0">
                <a:solidFill>
                  <a:srgbClr val="52606D"/>
                </a:solidFill>
              </a:defRPr>
            </a:lvl8pPr>
            <a:lvl9pPr>
              <a:defRPr sz="1125" b="0">
                <a:solidFill>
                  <a:srgbClr val="52606D"/>
                </a:solidFill>
              </a:defRPr>
            </a:lvl9pPr>
          </a:lstStyle>
          <a:p xmlns:a="http://schemas.openxmlformats.org/drawingml/2006/main">
            <a:pPr>
              <a:buNone/>
              <a:defRPr sz="1125" b="0">
                <a:solidFill>
                  <a:srgbClr val="52606D"/>
                </a:solidFill>
              </a:defRPr>
            </a:pPr>
            <a:r>
              <a:rPr sz="1125" b="0">
                <a:solidFill>
                  <a:srgbClr val="52606D"/>
                </a:solidFill>
              </a:rPr>
              <a:t>Original repository attribution remains with Kianis534/Hospital-Management-System-cpp.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3440E13-EBFD-435D-80AC-AEB55980E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419850"/>
            <a:ext cx="666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0">
                <a:solidFill>
                  <a:srgbClr val="52606D"/>
                </a:solidFill>
              </a:defRPr>
            </a:defPPr>
            <a:lvl1pPr>
              <a:defRPr sz="900" b="0">
                <a:solidFill>
                  <a:srgbClr val="52606D"/>
                </a:solidFill>
              </a:defRPr>
            </a:lvl1pPr>
            <a:lvl2pPr>
              <a:defRPr sz="900" b="0">
                <a:solidFill>
                  <a:srgbClr val="52606D"/>
                </a:solidFill>
              </a:defRPr>
            </a:lvl2pPr>
            <a:lvl3pPr>
              <a:defRPr sz="900" b="0">
                <a:solidFill>
                  <a:srgbClr val="52606D"/>
                </a:solidFill>
              </a:defRPr>
            </a:lvl3pPr>
            <a:lvl4pPr>
              <a:defRPr sz="900" b="0">
                <a:solidFill>
                  <a:srgbClr val="52606D"/>
                </a:solidFill>
              </a:defRPr>
            </a:lvl4pPr>
            <a:lvl5pPr>
              <a:defRPr sz="900" b="0">
                <a:solidFill>
                  <a:srgbClr val="52606D"/>
                </a:solidFill>
              </a:defRPr>
            </a:lvl5pPr>
            <a:lvl6pPr>
              <a:defRPr sz="900" b="0">
                <a:solidFill>
                  <a:srgbClr val="52606D"/>
                </a:solidFill>
              </a:defRPr>
            </a:lvl6pPr>
            <a:lvl7pPr>
              <a:defRPr sz="900" b="0">
                <a:solidFill>
                  <a:srgbClr val="52606D"/>
                </a:solidFill>
              </a:defRPr>
            </a:lvl7pPr>
            <a:lvl8pPr>
              <a:defRPr sz="900" b="0">
                <a:solidFill>
                  <a:srgbClr val="52606D"/>
                </a:solidFill>
              </a:defRPr>
            </a:lvl8pPr>
            <a:lvl9pPr>
              <a:defRPr sz="900" b="0">
                <a:solidFill>
                  <a:srgbClr val="52606D"/>
                </a:solidFill>
              </a:defRPr>
            </a:lvl9pPr>
          </a:lstStyle>
          <a:p xmlns:a="http://schemas.openxmlformats.org/drawingml/2006/main">
            <a:pPr>
              <a:buNone/>
              <a:defRPr sz="900" b="0">
                <a:solidFill>
                  <a:srgbClr val="52606D"/>
                </a:solidFill>
              </a:defRPr>
            </a:pPr>
            <a:r>
              <a:rPr sz="900" b="0">
                <a:solidFill>
                  <a:srgbClr val="52606D"/>
                </a:solidFill>
              </a:rPr>
              <a:t>Hospital Management System | C++17 DSA Project</a:t>
            </a:r>
          </a:p>
        </p:txBody>
      </p:sp>
    </p:spTree>
    <p:extLst>
      <p:ext uri="{BB962C8B-B14F-4D97-AF65-F5344CB8AC3E}">
        <p14:creationId xmlns:p14="http://schemas.microsoft.com/office/powerpoint/2010/main" val="50965140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2026-10-28T01:15:20.1840000Z</dcterms:created>
  <dcterms:modified xsi:type="dcterms:W3CDTF">2026-10-28T01:15:20.1840000Z</dcterms:modified>
</coreProperties>
</file>